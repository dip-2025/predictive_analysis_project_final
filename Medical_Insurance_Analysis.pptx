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4"/>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1A4A7A"/>
          </a:solidFill>
          <a:ln/>
        </p:spPr>
      </p:sp>
      <p:sp>
        <p:nvSpPr>
          <p:cNvPr id="3" name="Shape 1"/>
          <p:cNvSpPr/>
          <p:nvPr/>
        </p:nvSpPr>
        <p:spPr>
          <a:xfrm>
            <a:off x="3200400" y="2103120"/>
            <a:ext cx="5943600" cy="54864"/>
          </a:xfrm>
          <a:prstGeom prst="rect">
            <a:avLst/>
          </a:prstGeom>
          <a:solidFill>
            <a:srgbClr val="F4A261"/>
          </a:solidFill>
          <a:ln/>
        </p:spPr>
      </p:sp>
      <p:sp>
        <p:nvSpPr>
          <p:cNvPr id="4" name="Text 2"/>
          <p:cNvSpPr/>
          <p:nvPr/>
        </p:nvSpPr>
        <p:spPr>
          <a:xfrm>
            <a:off x="182880" y="914400"/>
            <a:ext cx="2834640" cy="2011680"/>
          </a:xfrm>
          <a:prstGeom prst="rect">
            <a:avLst/>
          </a:prstGeom>
          <a:noFill/>
          <a:ln/>
        </p:spPr>
        <p:txBody>
          <a:bodyPr wrap="square" rtlCol="0" anchor="ctr"/>
          <a:lstStyle/>
          <a:p>
            <a:pPr algn="l" indent="0" marL="0">
              <a:buNone/>
            </a:pPr>
            <a:r>
              <a:rPr lang="en-US" sz="3200" b="1" dirty="0">
                <a:solidFill>
                  <a:srgbClr val="F4A261"/>
                </a:solidFill>
                <a:latin typeface="Calibri" pitchFamily="34" charset="0"/>
                <a:ea typeface="Calibri" pitchFamily="34" charset="-122"/>
                <a:cs typeface="Calibri" pitchFamily="34" charset="-120"/>
              </a:rPr>
              <a:t>Predictive</a:t>
            </a:r>
            <a:endParaRPr lang="en-US" sz="3200" dirty="0"/>
          </a:p>
          <a:p>
            <a:pPr algn="l" indent="0" marL="0">
              <a:buNone/>
            </a:pPr>
            <a:r>
              <a:rPr lang="en-US" sz="3200" b="1" dirty="0">
                <a:solidFill>
                  <a:srgbClr val="F4A261"/>
                </a:solidFill>
                <a:latin typeface="Calibri" pitchFamily="34" charset="0"/>
                <a:ea typeface="Calibri" pitchFamily="34" charset="-122"/>
                <a:cs typeface="Calibri" pitchFamily="34" charset="-120"/>
              </a:rPr>
              <a:t>Analytics</a:t>
            </a:r>
            <a:endParaRPr lang="en-US" sz="3200" dirty="0"/>
          </a:p>
        </p:txBody>
      </p:sp>
      <p:sp>
        <p:nvSpPr>
          <p:cNvPr id="5" name="Text 3"/>
          <p:cNvSpPr/>
          <p:nvPr/>
        </p:nvSpPr>
        <p:spPr>
          <a:xfrm>
            <a:off x="182880" y="2834640"/>
            <a:ext cx="2834640" cy="457200"/>
          </a:xfrm>
          <a:prstGeom prst="rect">
            <a:avLst/>
          </a:prstGeom>
          <a:noFill/>
          <a:ln/>
        </p:spPr>
        <p:txBody>
          <a:bodyPr wrap="square" rtlCol="0" anchor="ctr"/>
          <a:lstStyle/>
          <a:p>
            <a:pPr algn="l" indent="0" marL="0">
              <a:buNone/>
            </a:pPr>
            <a:r>
              <a:rPr lang="en-US" sz="1300" dirty="0">
                <a:solidFill>
                  <a:srgbClr val="EDF2F7"/>
                </a:solidFill>
                <a:latin typeface="Calibri" pitchFamily="34" charset="0"/>
                <a:ea typeface="Calibri" pitchFamily="34" charset="-122"/>
                <a:cs typeface="Calibri" pitchFamily="34" charset="-120"/>
              </a:rPr>
              <a:t>Problem Set Analysis</a:t>
            </a:r>
            <a:endParaRPr lang="en-US" sz="1300" dirty="0"/>
          </a:p>
        </p:txBody>
      </p:sp>
      <p:sp>
        <p:nvSpPr>
          <p:cNvPr id="6" name="Text 4"/>
          <p:cNvSpPr/>
          <p:nvPr/>
        </p:nvSpPr>
        <p:spPr>
          <a:xfrm>
            <a:off x="3474720" y="731520"/>
            <a:ext cx="5303520" cy="109728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Medical Insurance Charges</a:t>
            </a:r>
            <a:endParaRPr lang="en-US" sz="3000" dirty="0"/>
          </a:p>
        </p:txBody>
      </p:sp>
      <p:sp>
        <p:nvSpPr>
          <p:cNvPr id="7" name="Text 5"/>
          <p:cNvSpPr/>
          <p:nvPr/>
        </p:nvSpPr>
        <p:spPr>
          <a:xfrm>
            <a:off x="3474720" y="2377440"/>
            <a:ext cx="5303520" cy="1280160"/>
          </a:xfrm>
          <a:prstGeom prst="rect">
            <a:avLst/>
          </a:prstGeom>
          <a:noFill/>
          <a:ln/>
        </p:spPr>
        <p:txBody>
          <a:bodyPr wrap="square" rtlCol="0" anchor="ctr"/>
          <a:lstStyle/>
          <a:p>
            <a:pPr algn="l" indent="0" marL="0">
              <a:buNone/>
            </a:pPr>
            <a:r>
              <a:rPr lang="en-US" sz="1300" dirty="0">
                <a:solidFill>
                  <a:srgbClr val="EDF2F7"/>
                </a:solidFill>
                <a:latin typeface="Calibri" pitchFamily="34" charset="0"/>
                <a:ea typeface="Calibri" pitchFamily="34" charset="-122"/>
                <a:cs typeface="Calibri" pitchFamily="34" charset="-120"/>
              </a:rPr>
              <a:t>A comprehensive predictive analytics study covering:</a:t>
            </a:r>
            <a:endParaRPr lang="en-US" sz="1300" dirty="0"/>
          </a:p>
          <a:p>
            <a:pPr algn="l" indent="0" marL="0">
              <a:buNone/>
            </a:pPr>
            <a:r>
              <a:rPr lang="en-US" sz="1300" dirty="0">
                <a:solidFill>
                  <a:srgbClr val="EDF2F7"/>
                </a:solidFill>
                <a:latin typeface="Calibri" pitchFamily="34" charset="0"/>
                <a:ea typeface="Calibri" pitchFamily="34" charset="-122"/>
                <a:cs typeface="Calibri" pitchFamily="34" charset="-120"/>
              </a:rPr>
              <a:t>Exploratory Data Analysis · Linear Regression</a:t>
            </a:r>
            <a:endParaRPr lang="en-US" sz="1300" dirty="0"/>
          </a:p>
          <a:p>
            <a:pPr algn="l" indent="0" marL="0">
              <a:buNone/>
            </a:pPr>
            <a:r>
              <a:rPr lang="en-US" sz="1300" dirty="0">
                <a:solidFill>
                  <a:srgbClr val="EDF2F7"/>
                </a:solidFill>
                <a:latin typeface="Calibri" pitchFamily="34" charset="0"/>
                <a:ea typeface="Calibri" pitchFamily="34" charset="-122"/>
                <a:cs typeface="Calibri" pitchFamily="34" charset="-120"/>
              </a:rPr>
              <a:t>Multiple Regression · Statistical Inference</a:t>
            </a:r>
            <a:endParaRPr lang="en-US" sz="1300" dirty="0"/>
          </a:p>
        </p:txBody>
      </p:sp>
      <p:sp>
        <p:nvSpPr>
          <p:cNvPr id="8" name="Shape 6"/>
          <p:cNvSpPr/>
          <p:nvPr/>
        </p:nvSpPr>
        <p:spPr>
          <a:xfrm>
            <a:off x="3474720" y="3840480"/>
            <a:ext cx="1234440" cy="1005840"/>
          </a:xfrm>
          <a:prstGeom prst="rect">
            <a:avLst/>
          </a:prstGeom>
          <a:solidFill>
            <a:srgbClr val="F4A261"/>
          </a:solidFill>
          <a:ln/>
          <a:effectLst>
            <a:outerShdw sx="100000" sy="100000" kx="0" ky="0" algn="bl" rotWithShape="0" blurRad="50800" dist="25400" dir="8100000">
              <a:srgbClr val="000000">
                <a:alpha val="25000"/>
              </a:srgbClr>
            </a:outerShdw>
          </a:effectLst>
        </p:spPr>
      </p:sp>
      <p:sp>
        <p:nvSpPr>
          <p:cNvPr id="9" name="Text 7"/>
          <p:cNvSpPr/>
          <p:nvPr/>
        </p:nvSpPr>
        <p:spPr>
          <a:xfrm>
            <a:off x="3474720" y="3858768"/>
            <a:ext cx="1234440" cy="502920"/>
          </a:xfrm>
          <a:prstGeom prst="rect">
            <a:avLst/>
          </a:prstGeom>
          <a:noFill/>
          <a:ln/>
        </p:spPr>
        <p:txBody>
          <a:bodyPr wrap="square" rtlCol="0" anchor="ctr"/>
          <a:lstStyle/>
          <a:p>
            <a:pPr algn="ctr" indent="0" marL="0">
              <a:buNone/>
            </a:pPr>
            <a:r>
              <a:rPr lang="en-US" sz="2200" b="1" dirty="0">
                <a:solidFill>
                  <a:srgbClr val="0F2744"/>
                </a:solidFill>
                <a:latin typeface="Calibri" pitchFamily="34" charset="0"/>
                <a:ea typeface="Calibri" pitchFamily="34" charset="-122"/>
                <a:cs typeface="Calibri" pitchFamily="34" charset="-120"/>
              </a:rPr>
              <a:t>2,772</a:t>
            </a:r>
            <a:endParaRPr lang="en-US" sz="2200" dirty="0"/>
          </a:p>
        </p:txBody>
      </p:sp>
      <p:sp>
        <p:nvSpPr>
          <p:cNvPr id="10" name="Text 8"/>
          <p:cNvSpPr/>
          <p:nvPr/>
        </p:nvSpPr>
        <p:spPr>
          <a:xfrm>
            <a:off x="3474720" y="4315968"/>
            <a:ext cx="1234440" cy="475488"/>
          </a:xfrm>
          <a:prstGeom prst="rect">
            <a:avLst/>
          </a:prstGeom>
          <a:noFill/>
          <a:ln/>
        </p:spPr>
        <p:txBody>
          <a:bodyPr wrap="square" rtlCol="0" anchor="ctr"/>
          <a:lstStyle/>
          <a:p>
            <a:pPr algn="ctr" indent="0" marL="0">
              <a:buNone/>
            </a:pPr>
            <a:r>
              <a:rPr lang="en-US" sz="900" dirty="0">
                <a:solidFill>
                  <a:srgbClr val="0F2744"/>
                </a:solidFill>
                <a:latin typeface="Calibri" pitchFamily="34" charset="0"/>
                <a:ea typeface="Calibri" pitchFamily="34" charset="-122"/>
                <a:cs typeface="Calibri" pitchFamily="34" charset="-120"/>
              </a:rPr>
              <a:t>Observations</a:t>
            </a:r>
            <a:endParaRPr lang="en-US" sz="900" dirty="0"/>
          </a:p>
        </p:txBody>
      </p:sp>
      <p:sp>
        <p:nvSpPr>
          <p:cNvPr id="11" name="Shape 9"/>
          <p:cNvSpPr/>
          <p:nvPr/>
        </p:nvSpPr>
        <p:spPr>
          <a:xfrm>
            <a:off x="4892040" y="3840480"/>
            <a:ext cx="1234440" cy="1005840"/>
          </a:xfrm>
          <a:prstGeom prst="rect">
            <a:avLst/>
          </a:prstGeom>
          <a:solidFill>
            <a:srgbClr val="F4A261"/>
          </a:solidFill>
          <a:ln/>
          <a:effectLst>
            <a:outerShdw sx="100000" sy="100000" kx="0" ky="0" algn="bl" rotWithShape="0" blurRad="50800" dist="25400" dir="8100000">
              <a:srgbClr val="000000">
                <a:alpha val="25000"/>
              </a:srgbClr>
            </a:outerShdw>
          </a:effectLst>
        </p:spPr>
      </p:sp>
      <p:sp>
        <p:nvSpPr>
          <p:cNvPr id="12" name="Text 10"/>
          <p:cNvSpPr/>
          <p:nvPr/>
        </p:nvSpPr>
        <p:spPr>
          <a:xfrm>
            <a:off x="4892040" y="3858768"/>
            <a:ext cx="1234440" cy="502920"/>
          </a:xfrm>
          <a:prstGeom prst="rect">
            <a:avLst/>
          </a:prstGeom>
          <a:noFill/>
          <a:ln/>
        </p:spPr>
        <p:txBody>
          <a:bodyPr wrap="square" rtlCol="0" anchor="ctr"/>
          <a:lstStyle/>
          <a:p>
            <a:pPr algn="ctr" indent="0" marL="0">
              <a:buNone/>
            </a:pPr>
            <a:r>
              <a:rPr lang="en-US" sz="2200" b="1" dirty="0">
                <a:solidFill>
                  <a:srgbClr val="0F2744"/>
                </a:solidFill>
                <a:latin typeface="Calibri" pitchFamily="34" charset="0"/>
                <a:ea typeface="Calibri" pitchFamily="34" charset="-122"/>
                <a:cs typeface="Calibri" pitchFamily="34" charset="-120"/>
              </a:rPr>
              <a:t>7</a:t>
            </a:r>
            <a:endParaRPr lang="en-US" sz="2200" dirty="0"/>
          </a:p>
        </p:txBody>
      </p:sp>
      <p:sp>
        <p:nvSpPr>
          <p:cNvPr id="13" name="Text 11"/>
          <p:cNvSpPr/>
          <p:nvPr/>
        </p:nvSpPr>
        <p:spPr>
          <a:xfrm>
            <a:off x="4892040" y="4315968"/>
            <a:ext cx="1234440" cy="475488"/>
          </a:xfrm>
          <a:prstGeom prst="rect">
            <a:avLst/>
          </a:prstGeom>
          <a:noFill/>
          <a:ln/>
        </p:spPr>
        <p:txBody>
          <a:bodyPr wrap="square" rtlCol="0" anchor="ctr"/>
          <a:lstStyle/>
          <a:p>
            <a:pPr algn="ctr" indent="0" marL="0">
              <a:buNone/>
            </a:pPr>
            <a:r>
              <a:rPr lang="en-US" sz="900" dirty="0">
                <a:solidFill>
                  <a:srgbClr val="0F2744"/>
                </a:solidFill>
                <a:latin typeface="Calibri" pitchFamily="34" charset="0"/>
                <a:ea typeface="Calibri" pitchFamily="34" charset="-122"/>
                <a:cs typeface="Calibri" pitchFamily="34" charset="-120"/>
              </a:rPr>
              <a:t>Variables</a:t>
            </a:r>
            <a:endParaRPr lang="en-US" sz="900" dirty="0"/>
          </a:p>
        </p:txBody>
      </p:sp>
      <p:sp>
        <p:nvSpPr>
          <p:cNvPr id="14" name="Shape 12"/>
          <p:cNvSpPr/>
          <p:nvPr/>
        </p:nvSpPr>
        <p:spPr>
          <a:xfrm>
            <a:off x="6309360" y="3840480"/>
            <a:ext cx="1234440" cy="1005840"/>
          </a:xfrm>
          <a:prstGeom prst="rect">
            <a:avLst/>
          </a:prstGeom>
          <a:solidFill>
            <a:srgbClr val="F4A261"/>
          </a:solidFill>
          <a:ln/>
          <a:effectLst>
            <a:outerShdw sx="100000" sy="100000" kx="0" ky="0" algn="bl" rotWithShape="0" blurRad="50800" dist="25400" dir="8100000">
              <a:srgbClr val="000000">
                <a:alpha val="25000"/>
              </a:srgbClr>
            </a:outerShdw>
          </a:effectLst>
        </p:spPr>
      </p:sp>
      <p:sp>
        <p:nvSpPr>
          <p:cNvPr id="15" name="Text 13"/>
          <p:cNvSpPr/>
          <p:nvPr/>
        </p:nvSpPr>
        <p:spPr>
          <a:xfrm>
            <a:off x="6309360" y="3858768"/>
            <a:ext cx="1234440" cy="502920"/>
          </a:xfrm>
          <a:prstGeom prst="rect">
            <a:avLst/>
          </a:prstGeom>
          <a:noFill/>
          <a:ln/>
        </p:spPr>
        <p:txBody>
          <a:bodyPr wrap="square" rtlCol="0" anchor="ctr"/>
          <a:lstStyle/>
          <a:p>
            <a:pPr algn="ctr" indent="0" marL="0">
              <a:buNone/>
            </a:pPr>
            <a:r>
              <a:rPr lang="en-US" sz="2200" b="1" dirty="0">
                <a:solidFill>
                  <a:srgbClr val="0F2744"/>
                </a:solidFill>
                <a:latin typeface="Calibri" pitchFamily="34" charset="0"/>
                <a:ea typeface="Calibri" pitchFamily="34" charset="-122"/>
                <a:cs typeface="Calibri" pitchFamily="34" charset="-120"/>
              </a:rPr>
              <a:t>0</a:t>
            </a:r>
            <a:endParaRPr lang="en-US" sz="2200" dirty="0"/>
          </a:p>
        </p:txBody>
      </p:sp>
      <p:sp>
        <p:nvSpPr>
          <p:cNvPr id="16" name="Text 14"/>
          <p:cNvSpPr/>
          <p:nvPr/>
        </p:nvSpPr>
        <p:spPr>
          <a:xfrm>
            <a:off x="6309360" y="4315968"/>
            <a:ext cx="1234440" cy="475488"/>
          </a:xfrm>
          <a:prstGeom prst="rect">
            <a:avLst/>
          </a:prstGeom>
          <a:noFill/>
          <a:ln/>
        </p:spPr>
        <p:txBody>
          <a:bodyPr wrap="square" rtlCol="0" anchor="ctr"/>
          <a:lstStyle/>
          <a:p>
            <a:pPr algn="ctr" indent="0" marL="0">
              <a:buNone/>
            </a:pPr>
            <a:r>
              <a:rPr lang="en-US" sz="900" dirty="0">
                <a:solidFill>
                  <a:srgbClr val="0F2744"/>
                </a:solidFill>
                <a:latin typeface="Calibri" pitchFamily="34" charset="0"/>
                <a:ea typeface="Calibri" pitchFamily="34" charset="-122"/>
                <a:cs typeface="Calibri" pitchFamily="34" charset="-120"/>
              </a:rPr>
              <a:t>Missing Values</a:t>
            </a:r>
            <a:endParaRPr lang="en-US" sz="900" dirty="0"/>
          </a:p>
        </p:txBody>
      </p:sp>
      <p:sp>
        <p:nvSpPr>
          <p:cNvPr id="17" name="Shape 15"/>
          <p:cNvSpPr/>
          <p:nvPr/>
        </p:nvSpPr>
        <p:spPr>
          <a:xfrm>
            <a:off x="7726680" y="3840480"/>
            <a:ext cx="1234440" cy="1005840"/>
          </a:xfrm>
          <a:prstGeom prst="rect">
            <a:avLst/>
          </a:prstGeom>
          <a:solidFill>
            <a:srgbClr val="F4A261"/>
          </a:solidFill>
          <a:ln/>
          <a:effectLst>
            <a:outerShdw sx="100000" sy="100000" kx="0" ky="0" algn="bl" rotWithShape="0" blurRad="50800" dist="25400" dir="8100000">
              <a:srgbClr val="000000">
                <a:alpha val="25000"/>
              </a:srgbClr>
            </a:outerShdw>
          </a:effectLst>
        </p:spPr>
      </p:sp>
      <p:sp>
        <p:nvSpPr>
          <p:cNvPr id="18" name="Text 16"/>
          <p:cNvSpPr/>
          <p:nvPr/>
        </p:nvSpPr>
        <p:spPr>
          <a:xfrm>
            <a:off x="7726680" y="3858768"/>
            <a:ext cx="1234440" cy="502920"/>
          </a:xfrm>
          <a:prstGeom prst="rect">
            <a:avLst/>
          </a:prstGeom>
          <a:noFill/>
          <a:ln/>
        </p:spPr>
        <p:txBody>
          <a:bodyPr wrap="square" rtlCol="0" anchor="ctr"/>
          <a:lstStyle/>
          <a:p>
            <a:pPr algn="ctr" indent="0" marL="0">
              <a:buNone/>
            </a:pPr>
            <a:r>
              <a:rPr lang="en-US" sz="2200" b="1" dirty="0">
                <a:solidFill>
                  <a:srgbClr val="0F2744"/>
                </a:solidFill>
                <a:latin typeface="Calibri" pitchFamily="34" charset="0"/>
                <a:ea typeface="Calibri" pitchFamily="34" charset="-122"/>
                <a:cs typeface="Calibri" pitchFamily="34" charset="-120"/>
              </a:rPr>
              <a:t>~75%</a:t>
            </a:r>
            <a:endParaRPr lang="en-US" sz="2200" dirty="0"/>
          </a:p>
        </p:txBody>
      </p:sp>
      <p:sp>
        <p:nvSpPr>
          <p:cNvPr id="19" name="Text 17"/>
          <p:cNvSpPr/>
          <p:nvPr/>
        </p:nvSpPr>
        <p:spPr>
          <a:xfrm>
            <a:off x="7726680" y="4315968"/>
            <a:ext cx="1234440" cy="475488"/>
          </a:xfrm>
          <a:prstGeom prst="rect">
            <a:avLst/>
          </a:prstGeom>
          <a:noFill/>
          <a:ln/>
        </p:spPr>
        <p:txBody>
          <a:bodyPr wrap="square" rtlCol="0" anchor="ctr"/>
          <a:lstStyle/>
          <a:p>
            <a:pPr algn="ctr" indent="0" marL="0">
              <a:buNone/>
            </a:pPr>
            <a:r>
              <a:rPr lang="en-US" sz="900" dirty="0">
                <a:solidFill>
                  <a:srgbClr val="0F2744"/>
                </a:solidFill>
                <a:latin typeface="Calibri" pitchFamily="34" charset="0"/>
                <a:ea typeface="Calibri" pitchFamily="34" charset="-122"/>
                <a:cs typeface="Calibri" pitchFamily="34" charset="-120"/>
              </a:rPr>
              <a:t>R² (Full Model)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Dataset Overview — Medical Insurance</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960120"/>
          <a:ext cx="8412480" cy="3200400"/>
        </p:xfrm>
        <a:graphic>
          <a:graphicData uri="http://schemas.openxmlformats.org/drawingml/2006/table">
            <a:tbl>
              <a:tblPr/>
              <a:tblGrid>
                <a:gridCol w="2103120"/>
                <a:gridCol w="2103120"/>
                <a:gridCol w="2103120"/>
                <a:gridCol w="2103120"/>
              </a:tblGrid>
              <a:tr h="384048">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Age of beneficiary (18–64)</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sex</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Male / Female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bmi</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Body Mass Index (15.96–53.13)</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children</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Number of dependents (0–5)</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smoker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Yes / No</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region</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Categorical</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Predictor</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NE / NW / SE / SW</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r h="384048">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charges</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Numeric</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Response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Annual medical insurance cost (USD)</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1D3A5F"/>
                    </a:solidFill>
                  </a:tcPr>
                </a:tc>
              </a:tr>
            </a:tbl>
          </a:graphicData>
        </a:graphic>
      </p:graphicFrame>
      <p:sp>
        <p:nvSpPr>
          <p:cNvPr id="6" name="Shape 3"/>
          <p:cNvSpPr/>
          <p:nvPr/>
        </p:nvSpPr>
        <p:spPr>
          <a:xfrm>
            <a:off x="365760" y="4251960"/>
            <a:ext cx="2651760" cy="685800"/>
          </a:xfrm>
          <a:prstGeom prst="rect">
            <a:avLst/>
          </a:prstGeom>
          <a:solidFill>
            <a:srgbClr val="1A4A7A"/>
          </a:solidFill>
          <a:ln/>
          <a:effectLst>
            <a:outerShdw sx="100000" sy="100000" kx="0" ky="0" algn="bl" rotWithShape="0" blurRad="38100" dist="25400" dir="8100000">
              <a:srgbClr val="000000">
                <a:alpha val="20000"/>
              </a:srgbClr>
            </a:outerShdw>
          </a:effectLst>
        </p:spPr>
      </p:sp>
      <p:sp>
        <p:nvSpPr>
          <p:cNvPr id="7" name="Shape 4"/>
          <p:cNvSpPr/>
          <p:nvPr/>
        </p:nvSpPr>
        <p:spPr>
          <a:xfrm>
            <a:off x="365760" y="4251960"/>
            <a:ext cx="54864" cy="685800"/>
          </a:xfrm>
          <a:prstGeom prst="rect">
            <a:avLst/>
          </a:prstGeom>
          <a:solidFill>
            <a:srgbClr val="F4A261"/>
          </a:solidFill>
          <a:ln/>
        </p:spPr>
      </p:sp>
      <p:sp>
        <p:nvSpPr>
          <p:cNvPr id="8" name="Text 5"/>
          <p:cNvSpPr/>
          <p:nvPr/>
        </p:nvSpPr>
        <p:spPr>
          <a:xfrm>
            <a:off x="475488" y="4297680"/>
            <a:ext cx="1097280" cy="594360"/>
          </a:xfrm>
          <a:prstGeom prst="rect">
            <a:avLst/>
          </a:prstGeom>
          <a:noFill/>
          <a:ln/>
        </p:spPr>
        <p:txBody>
          <a:bodyPr wrap="square" lIns="0" tIns="0" rIns="0" bIns="0" rtlCol="0" anchor="ctr"/>
          <a:lstStyle/>
          <a:p>
            <a:pPr indent="0" marL="0">
              <a:buNone/>
            </a:pPr>
            <a:r>
              <a:rPr lang="en-US" sz="1100" dirty="0">
                <a:solidFill>
                  <a:srgbClr val="8096AE"/>
                </a:solidFill>
                <a:latin typeface="Calibri" pitchFamily="34" charset="0"/>
                <a:ea typeface="Calibri" pitchFamily="34" charset="-122"/>
                <a:cs typeface="Calibri" pitchFamily="34" charset="-120"/>
              </a:rPr>
              <a:t>Mean Charge: </a:t>
            </a:r>
            <a:endParaRPr lang="en-US" sz="1100" dirty="0"/>
          </a:p>
        </p:txBody>
      </p:sp>
      <p:sp>
        <p:nvSpPr>
          <p:cNvPr id="9" name="Text 6"/>
          <p:cNvSpPr/>
          <p:nvPr/>
        </p:nvSpPr>
        <p:spPr>
          <a:xfrm>
            <a:off x="1463040" y="4297680"/>
            <a:ext cx="1371600" cy="594360"/>
          </a:xfrm>
          <a:prstGeom prst="rect">
            <a:avLst/>
          </a:prstGeom>
          <a:noFill/>
          <a:ln/>
        </p:spPr>
        <p:txBody>
          <a:bodyPr wrap="square" lIns="0" tIns="0" rIns="0" bIns="0"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$13,261</a:t>
            </a:r>
            <a:endParaRPr lang="en-US" sz="1400" dirty="0"/>
          </a:p>
        </p:txBody>
      </p:sp>
      <p:sp>
        <p:nvSpPr>
          <p:cNvPr id="10" name="Shape 7"/>
          <p:cNvSpPr/>
          <p:nvPr/>
        </p:nvSpPr>
        <p:spPr>
          <a:xfrm>
            <a:off x="3227832" y="4251960"/>
            <a:ext cx="2651760" cy="685800"/>
          </a:xfrm>
          <a:prstGeom prst="rect">
            <a:avLst/>
          </a:prstGeom>
          <a:solidFill>
            <a:srgbClr val="1A4A7A"/>
          </a:solidFill>
          <a:ln/>
          <a:effectLst>
            <a:outerShdw sx="100000" sy="100000" kx="0" ky="0" algn="bl" rotWithShape="0" blurRad="38100" dist="25400" dir="8100000">
              <a:srgbClr val="000000">
                <a:alpha val="20000"/>
              </a:srgbClr>
            </a:outerShdw>
          </a:effectLst>
        </p:spPr>
      </p:sp>
      <p:sp>
        <p:nvSpPr>
          <p:cNvPr id="11" name="Shape 8"/>
          <p:cNvSpPr/>
          <p:nvPr/>
        </p:nvSpPr>
        <p:spPr>
          <a:xfrm>
            <a:off x="3227832" y="4251960"/>
            <a:ext cx="54864" cy="685800"/>
          </a:xfrm>
          <a:prstGeom prst="rect">
            <a:avLst/>
          </a:prstGeom>
          <a:solidFill>
            <a:srgbClr val="F4A261"/>
          </a:solidFill>
          <a:ln/>
        </p:spPr>
      </p:sp>
      <p:sp>
        <p:nvSpPr>
          <p:cNvPr id="12" name="Text 9"/>
          <p:cNvSpPr/>
          <p:nvPr/>
        </p:nvSpPr>
        <p:spPr>
          <a:xfrm>
            <a:off x="3337560" y="4297680"/>
            <a:ext cx="1097280" cy="594360"/>
          </a:xfrm>
          <a:prstGeom prst="rect">
            <a:avLst/>
          </a:prstGeom>
          <a:noFill/>
          <a:ln/>
        </p:spPr>
        <p:txBody>
          <a:bodyPr wrap="square" lIns="0" tIns="0" rIns="0" bIns="0" rtlCol="0" anchor="ctr"/>
          <a:lstStyle/>
          <a:p>
            <a:pPr indent="0" marL="0">
              <a:buNone/>
            </a:pPr>
            <a:r>
              <a:rPr lang="en-US" sz="1100" dirty="0">
                <a:solidFill>
                  <a:srgbClr val="8096AE"/>
                </a:solidFill>
                <a:latin typeface="Calibri" pitchFamily="34" charset="0"/>
                <a:ea typeface="Calibri" pitchFamily="34" charset="-122"/>
                <a:cs typeface="Calibri" pitchFamily="34" charset="-120"/>
              </a:rPr>
              <a:t>Max Charge: </a:t>
            </a:r>
            <a:endParaRPr lang="en-US" sz="1100" dirty="0"/>
          </a:p>
        </p:txBody>
      </p:sp>
      <p:sp>
        <p:nvSpPr>
          <p:cNvPr id="13" name="Text 10"/>
          <p:cNvSpPr/>
          <p:nvPr/>
        </p:nvSpPr>
        <p:spPr>
          <a:xfrm>
            <a:off x="4325112" y="4297680"/>
            <a:ext cx="1371600" cy="594360"/>
          </a:xfrm>
          <a:prstGeom prst="rect">
            <a:avLst/>
          </a:prstGeom>
          <a:noFill/>
          <a:ln/>
        </p:spPr>
        <p:txBody>
          <a:bodyPr wrap="square" lIns="0" tIns="0" rIns="0" bIns="0"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$63,770</a:t>
            </a:r>
            <a:endParaRPr lang="en-US" sz="1400" dirty="0"/>
          </a:p>
        </p:txBody>
      </p:sp>
      <p:sp>
        <p:nvSpPr>
          <p:cNvPr id="14" name="Shape 11"/>
          <p:cNvSpPr/>
          <p:nvPr/>
        </p:nvSpPr>
        <p:spPr>
          <a:xfrm>
            <a:off x="6089904" y="4251960"/>
            <a:ext cx="2651760" cy="685800"/>
          </a:xfrm>
          <a:prstGeom prst="rect">
            <a:avLst/>
          </a:prstGeom>
          <a:solidFill>
            <a:srgbClr val="1A4A7A"/>
          </a:solidFill>
          <a:ln/>
          <a:effectLst>
            <a:outerShdw sx="100000" sy="100000" kx="0" ky="0" algn="bl" rotWithShape="0" blurRad="38100" dist="25400" dir="8100000">
              <a:srgbClr val="000000">
                <a:alpha val="20000"/>
              </a:srgbClr>
            </a:outerShdw>
          </a:effectLst>
        </p:spPr>
      </p:sp>
      <p:sp>
        <p:nvSpPr>
          <p:cNvPr id="15" name="Shape 12"/>
          <p:cNvSpPr/>
          <p:nvPr/>
        </p:nvSpPr>
        <p:spPr>
          <a:xfrm>
            <a:off x="6089904" y="4251960"/>
            <a:ext cx="54864" cy="685800"/>
          </a:xfrm>
          <a:prstGeom prst="rect">
            <a:avLst/>
          </a:prstGeom>
          <a:solidFill>
            <a:srgbClr val="F4A261"/>
          </a:solidFill>
          <a:ln/>
        </p:spPr>
      </p:sp>
      <p:sp>
        <p:nvSpPr>
          <p:cNvPr id="16" name="Text 13"/>
          <p:cNvSpPr/>
          <p:nvPr/>
        </p:nvSpPr>
        <p:spPr>
          <a:xfrm>
            <a:off x="6199632" y="4297680"/>
            <a:ext cx="1097280" cy="594360"/>
          </a:xfrm>
          <a:prstGeom prst="rect">
            <a:avLst/>
          </a:prstGeom>
          <a:noFill/>
          <a:ln/>
        </p:spPr>
        <p:txBody>
          <a:bodyPr wrap="square" lIns="0" tIns="0" rIns="0" bIns="0" rtlCol="0" anchor="ctr"/>
          <a:lstStyle/>
          <a:p>
            <a:pPr indent="0" marL="0">
              <a:buNone/>
            </a:pPr>
            <a:r>
              <a:rPr lang="en-US" sz="1100" dirty="0">
                <a:solidFill>
                  <a:srgbClr val="8096AE"/>
                </a:solidFill>
                <a:latin typeface="Calibri" pitchFamily="34" charset="0"/>
                <a:ea typeface="Calibri" pitchFamily="34" charset="-122"/>
                <a:cs typeface="Calibri" pitchFamily="34" charset="-120"/>
              </a:rPr>
              <a:t>Smokers: </a:t>
            </a:r>
            <a:endParaRPr lang="en-US" sz="1100" dirty="0"/>
          </a:p>
        </p:txBody>
      </p:sp>
      <p:sp>
        <p:nvSpPr>
          <p:cNvPr id="17" name="Text 14"/>
          <p:cNvSpPr/>
          <p:nvPr/>
        </p:nvSpPr>
        <p:spPr>
          <a:xfrm>
            <a:off x="7187184" y="4297680"/>
            <a:ext cx="1371600" cy="594360"/>
          </a:xfrm>
          <a:prstGeom prst="rect">
            <a:avLst/>
          </a:prstGeom>
          <a:noFill/>
          <a:ln/>
        </p:spPr>
        <p:txBody>
          <a:bodyPr wrap="square" lIns="0" tIns="0" rIns="0" bIns="0" rtlCol="0" anchor="ctr"/>
          <a:lstStyle/>
          <a:p>
            <a:pPr indent="0" marL="0">
              <a:buNone/>
            </a:pPr>
            <a:r>
              <a:rPr lang="en-US" sz="1400" b="1" dirty="0">
                <a:solidFill>
                  <a:srgbClr val="F4A261"/>
                </a:solidFill>
                <a:latin typeface="Calibri" pitchFamily="34" charset="0"/>
                <a:ea typeface="Calibri" pitchFamily="34" charset="-122"/>
                <a:cs typeface="Calibri" pitchFamily="34" charset="-120"/>
              </a:rPr>
              <a:t>~20%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Methodology — Techniques Applied</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sp>
        <p:nvSpPr>
          <p:cNvPr id="5" name="Shape 3"/>
          <p:cNvSpPr/>
          <p:nvPr/>
        </p:nvSpPr>
        <p:spPr>
          <a:xfrm>
            <a:off x="365760" y="960120"/>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6" name="Shape 4"/>
          <p:cNvSpPr/>
          <p:nvPr/>
        </p:nvSpPr>
        <p:spPr>
          <a:xfrm>
            <a:off x="365760" y="960120"/>
            <a:ext cx="64008" cy="1234440"/>
          </a:xfrm>
          <a:prstGeom prst="rect">
            <a:avLst/>
          </a:prstGeom>
          <a:solidFill>
            <a:srgbClr val="F4A261"/>
          </a:solidFill>
          <a:ln/>
        </p:spPr>
      </p:sp>
      <p:sp>
        <p:nvSpPr>
          <p:cNvPr id="7" name="Text 5"/>
          <p:cNvSpPr/>
          <p:nvPr/>
        </p:nvSpPr>
        <p:spPr>
          <a:xfrm>
            <a:off x="502920" y="1033272"/>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1. Exploratory Data Analysis</a:t>
            </a:r>
            <a:endParaRPr lang="en-US" sz="1100" dirty="0"/>
          </a:p>
        </p:txBody>
      </p:sp>
      <p:sp>
        <p:nvSpPr>
          <p:cNvPr id="8" name="Text 6"/>
          <p:cNvSpPr/>
          <p:nvPr/>
        </p:nvSpPr>
        <p:spPr>
          <a:xfrm>
            <a:off x="502920" y="1344168"/>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Scatter plots, boxplots, summary statistics, outlier detection using IQR method. Maps to Problem Set 1.</a:t>
            </a:r>
            <a:endParaRPr lang="en-US" sz="1000" dirty="0"/>
          </a:p>
        </p:txBody>
      </p:sp>
      <p:sp>
        <p:nvSpPr>
          <p:cNvPr id="9" name="Shape 7"/>
          <p:cNvSpPr/>
          <p:nvPr/>
        </p:nvSpPr>
        <p:spPr>
          <a:xfrm>
            <a:off x="4709160" y="960120"/>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0" name="Shape 8"/>
          <p:cNvSpPr/>
          <p:nvPr/>
        </p:nvSpPr>
        <p:spPr>
          <a:xfrm>
            <a:off x="4709160" y="960120"/>
            <a:ext cx="64008" cy="1234440"/>
          </a:xfrm>
          <a:prstGeom prst="rect">
            <a:avLst/>
          </a:prstGeom>
          <a:solidFill>
            <a:srgbClr val="F4A261"/>
          </a:solidFill>
          <a:ln/>
        </p:spPr>
      </p:sp>
      <p:sp>
        <p:nvSpPr>
          <p:cNvPr id="11" name="Text 9"/>
          <p:cNvSpPr/>
          <p:nvPr/>
        </p:nvSpPr>
        <p:spPr>
          <a:xfrm>
            <a:off x="4846320" y="1033272"/>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2. OLS Simulation Studies</a:t>
            </a:r>
            <a:endParaRPr lang="en-US" sz="1100" dirty="0"/>
          </a:p>
        </p:txBody>
      </p:sp>
      <p:sp>
        <p:nvSpPr>
          <p:cNvPr id="12" name="Text 10"/>
          <p:cNvSpPr/>
          <p:nvPr/>
        </p:nvSpPr>
        <p:spPr>
          <a:xfrm>
            <a:off x="4846320" y="1344168"/>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Demonstrated that (a) population line is fixed while OLS varies, (b) OLS minimises RSS via grid search, (c) OLS is unbiased via 1000 Monte Carlo simulations. Maps to Problem Set 2.</a:t>
            </a:r>
            <a:endParaRPr lang="en-US" sz="1000" dirty="0"/>
          </a:p>
        </p:txBody>
      </p:sp>
      <p:sp>
        <p:nvSpPr>
          <p:cNvPr id="13" name="Shape 11"/>
          <p:cNvSpPr/>
          <p:nvPr/>
        </p:nvSpPr>
        <p:spPr>
          <a:xfrm>
            <a:off x="365760" y="2313432"/>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4" name="Shape 12"/>
          <p:cNvSpPr/>
          <p:nvPr/>
        </p:nvSpPr>
        <p:spPr>
          <a:xfrm>
            <a:off x="365760" y="2313432"/>
            <a:ext cx="64008" cy="1234440"/>
          </a:xfrm>
          <a:prstGeom prst="rect">
            <a:avLst/>
          </a:prstGeom>
          <a:solidFill>
            <a:srgbClr val="F4A261"/>
          </a:solidFill>
          <a:ln/>
        </p:spPr>
      </p:sp>
      <p:sp>
        <p:nvSpPr>
          <p:cNvPr id="15" name="Text 13"/>
          <p:cNvSpPr/>
          <p:nvPr/>
        </p:nvSpPr>
        <p:spPr>
          <a:xfrm>
            <a:off x="502920" y="2386584"/>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3. Simple Linear Regressions</a:t>
            </a:r>
            <a:endParaRPr lang="en-US" sz="1100" dirty="0"/>
          </a:p>
        </p:txBody>
      </p:sp>
      <p:sp>
        <p:nvSpPr>
          <p:cNvPr id="16" name="Text 14"/>
          <p:cNvSpPr/>
          <p:nvPr/>
        </p:nvSpPr>
        <p:spPr>
          <a:xfrm>
            <a:off x="502920" y="2697480"/>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Fit charges ~ each predictor individually. Compared R², RMSE, and p-values across 5 models. Maps to Problem Set 2, Section 4.</a:t>
            </a:r>
            <a:endParaRPr lang="en-US" sz="1000" dirty="0"/>
          </a:p>
        </p:txBody>
      </p:sp>
      <p:sp>
        <p:nvSpPr>
          <p:cNvPr id="17" name="Shape 15"/>
          <p:cNvSpPr/>
          <p:nvPr/>
        </p:nvSpPr>
        <p:spPr>
          <a:xfrm>
            <a:off x="4709160" y="2313432"/>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8" name="Shape 16"/>
          <p:cNvSpPr/>
          <p:nvPr/>
        </p:nvSpPr>
        <p:spPr>
          <a:xfrm>
            <a:off x="4709160" y="2313432"/>
            <a:ext cx="64008" cy="1234440"/>
          </a:xfrm>
          <a:prstGeom prst="rect">
            <a:avLst/>
          </a:prstGeom>
          <a:solidFill>
            <a:srgbClr val="F4A261"/>
          </a:solidFill>
          <a:ln/>
        </p:spPr>
      </p:sp>
      <p:sp>
        <p:nvSpPr>
          <p:cNvPr id="19" name="Text 17"/>
          <p:cNvSpPr/>
          <p:nvPr/>
        </p:nvSpPr>
        <p:spPr>
          <a:xfrm>
            <a:off x="4846320" y="2386584"/>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4. Multiple Linear Regression</a:t>
            </a:r>
            <a:endParaRPr lang="en-US" sz="1100" dirty="0"/>
          </a:p>
        </p:txBody>
      </p:sp>
      <p:sp>
        <p:nvSpPr>
          <p:cNvPr id="20" name="Text 18"/>
          <p:cNvSpPr/>
          <p:nvPr/>
        </p:nvSpPr>
        <p:spPr>
          <a:xfrm>
            <a:off x="4846320" y="2697480"/>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Full model with all predictors. Reported R², Adjusted R², RMSE. Generated residuals and Q-Q diagnostic plots. Maps to Problem Set 3.</a:t>
            </a:r>
            <a:endParaRPr lang="en-US" sz="1000" dirty="0"/>
          </a:p>
        </p:txBody>
      </p:sp>
      <p:sp>
        <p:nvSpPr>
          <p:cNvPr id="21" name="Shape 19"/>
          <p:cNvSpPr/>
          <p:nvPr/>
        </p:nvSpPr>
        <p:spPr>
          <a:xfrm>
            <a:off x="365760" y="3666744"/>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22" name="Shape 20"/>
          <p:cNvSpPr/>
          <p:nvPr/>
        </p:nvSpPr>
        <p:spPr>
          <a:xfrm>
            <a:off x="365760" y="3666744"/>
            <a:ext cx="64008" cy="1234440"/>
          </a:xfrm>
          <a:prstGeom prst="rect">
            <a:avLst/>
          </a:prstGeom>
          <a:solidFill>
            <a:srgbClr val="F4A261"/>
          </a:solidFill>
          <a:ln/>
        </p:spPr>
      </p:sp>
      <p:sp>
        <p:nvSpPr>
          <p:cNvPr id="23" name="Text 21"/>
          <p:cNvSpPr/>
          <p:nvPr/>
        </p:nvSpPr>
        <p:spPr>
          <a:xfrm>
            <a:off x="502920" y="3739896"/>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5. Categorical Predictors</a:t>
            </a:r>
            <a:endParaRPr lang="en-US" sz="1100" dirty="0"/>
          </a:p>
        </p:txBody>
      </p:sp>
      <p:sp>
        <p:nvSpPr>
          <p:cNvPr id="24" name="Text 22"/>
          <p:cNvSpPr/>
          <p:nvPr/>
        </p:nvSpPr>
        <p:spPr>
          <a:xfrm>
            <a:off x="502920" y="4050792"/>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Sequentially added qualitative variables (smoker, sex) to quantify their marginal contribution. Maps to Problem Set 3, Section 2.</a:t>
            </a:r>
            <a:endParaRPr lang="en-US" sz="1000" dirty="0"/>
          </a:p>
        </p:txBody>
      </p:sp>
      <p:sp>
        <p:nvSpPr>
          <p:cNvPr id="25" name="Shape 23"/>
          <p:cNvSpPr/>
          <p:nvPr/>
        </p:nvSpPr>
        <p:spPr>
          <a:xfrm>
            <a:off x="4709160" y="3666744"/>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26" name="Shape 24"/>
          <p:cNvSpPr/>
          <p:nvPr/>
        </p:nvSpPr>
        <p:spPr>
          <a:xfrm>
            <a:off x="4709160" y="3666744"/>
            <a:ext cx="64008" cy="1234440"/>
          </a:xfrm>
          <a:prstGeom prst="rect">
            <a:avLst/>
          </a:prstGeom>
          <a:solidFill>
            <a:srgbClr val="F4A261"/>
          </a:solidFill>
          <a:ln/>
        </p:spPr>
      </p:sp>
      <p:sp>
        <p:nvSpPr>
          <p:cNvPr id="27" name="Text 25"/>
          <p:cNvSpPr/>
          <p:nvPr/>
        </p:nvSpPr>
        <p:spPr>
          <a:xfrm>
            <a:off x="4846320" y="3739896"/>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6. Log-Linear Model</a:t>
            </a:r>
            <a:endParaRPr lang="en-US" sz="1100" dirty="0"/>
          </a:p>
        </p:txBody>
      </p:sp>
      <p:sp>
        <p:nvSpPr>
          <p:cNvPr id="28" name="Text 26"/>
          <p:cNvSpPr/>
          <p:nvPr/>
        </p:nvSpPr>
        <p:spPr>
          <a:xfrm>
            <a:off x="4846320" y="4050792"/>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Explored log(charges) ~ BMI to address heteroscedasticity and improve residual normality. Maps to Problem Set 3, Section 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0F8"/>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0F2744"/>
                </a:solidFill>
                <a:latin typeface="Calibri" pitchFamily="34" charset="0"/>
                <a:ea typeface="Calibri" pitchFamily="34" charset="-122"/>
                <a:cs typeface="Calibri" pitchFamily="34" charset="-120"/>
              </a:rPr>
              <a:t>EDA — Scatter Plots: Charges vs Predictors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8595360" cy="3200400"/>
          </a:xfrm>
          <a:prstGeom prst="rect">
            <a:avLst/>
          </a:prstGeom>
        </p:spPr>
      </p:pic>
      <p:sp>
        <p:nvSpPr>
          <p:cNvPr id="6" name="Text 3"/>
          <p:cNvSpPr/>
          <p:nvPr/>
        </p:nvSpPr>
        <p:spPr>
          <a:xfrm>
            <a:off x="365760" y="4160520"/>
            <a:ext cx="8412480" cy="822960"/>
          </a:xfrm>
          <a:prstGeom prst="rect">
            <a:avLst/>
          </a:prstGeom>
          <a:noFill/>
          <a:ln/>
        </p:spPr>
        <p:txBody>
          <a:bodyPr wrap="square" lIns="0" tIns="0" rIns="0" bIns="0" rtlCol="0" anchor="ctr"/>
          <a:lstStyle/>
          <a:p>
            <a:pPr indent="0" marL="0">
              <a:buNone/>
            </a:pPr>
            <a:r>
              <a:rPr lang="en-US" sz="1050" dirty="0">
                <a:solidFill>
                  <a:srgbClr val="1A4A7A"/>
                </a:solidFill>
                <a:latin typeface="Calibri" pitchFamily="34" charset="0"/>
                <a:ea typeface="Calibri" pitchFamily="34" charset="-122"/>
                <a:cs typeface="Calibri" pitchFamily="34" charset="-120"/>
              </a:rPr>
              <a:t>① Age: Positive trend — older individuals pay more. Three visible bands likely reflect smoker status.</a:t>
            </a:r>
            <a:endParaRPr lang="en-US" sz="1050" dirty="0"/>
          </a:p>
          <a:p>
            <a:pPr indent="0" marL="0">
              <a:buNone/>
            </a:pPr>
            <a:r>
              <a:rPr lang="en-US" sz="1050" dirty="0">
                <a:solidFill>
                  <a:srgbClr val="D64E12"/>
                </a:solidFill>
                <a:latin typeface="Calibri" pitchFamily="34" charset="0"/>
                <a:ea typeface="Calibri" pitchFamily="34" charset="-122"/>
                <a:cs typeface="Calibri" pitchFamily="34" charset="-120"/>
              </a:rPr>
              <a:t>② BMI: Slight positive trend with high-charge cluster at high BMI (smokers).</a:t>
            </a:r>
            <a:endParaRPr lang="en-US" sz="1050" dirty="0"/>
          </a:p>
          <a:p>
            <a:pPr indent="0" marL="0">
              <a:buNone/>
            </a:pPr>
            <a:r>
              <a:rPr lang="en-US" sz="1050" dirty="0">
                <a:solidFill>
                  <a:srgbClr val="2E7D32"/>
                </a:solidFill>
                <a:latin typeface="Calibri" pitchFamily="34" charset="0"/>
                <a:ea typeface="Calibri" pitchFamily="34" charset="-122"/>
                <a:cs typeface="Calibri" pitchFamily="34" charset="-120"/>
              </a:rPr>
              <a:t>③ Children: Very weak relationship; charges do not vary strongly with family size.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0F8"/>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0F2744"/>
                </a:solidFill>
                <a:latin typeface="Calibri" pitchFamily="34" charset="0"/>
                <a:ea typeface="Calibri" pitchFamily="34" charset="-122"/>
                <a:cs typeface="Calibri" pitchFamily="34" charset="-120"/>
              </a:rPr>
              <a:t>Outlier Detection — Boxplots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6035040" cy="3017520"/>
          </a:xfrm>
          <a:prstGeom prst="rect">
            <a:avLst/>
          </a:prstGeom>
        </p:spPr>
      </p:pic>
      <p:sp>
        <p:nvSpPr>
          <p:cNvPr id="6" name="Shape 3"/>
          <p:cNvSpPr/>
          <p:nvPr/>
        </p:nvSpPr>
        <p:spPr>
          <a:xfrm>
            <a:off x="6492240" y="914400"/>
            <a:ext cx="2468880" cy="1371600"/>
          </a:xfrm>
          <a:prstGeom prst="rect">
            <a:avLst/>
          </a:prstGeom>
          <a:solidFill>
            <a:srgbClr val="FFFFFF"/>
          </a:solidFill>
          <a:ln/>
          <a:effectLst>
            <a:outerShdw sx="100000" sy="100000" kx="0" ky="0" algn="bl" rotWithShape="0" blurRad="50800" dist="25400" dir="8100000">
              <a:srgbClr val="000000">
                <a:alpha val="20000"/>
              </a:srgbClr>
            </a:outerShdw>
          </a:effectLst>
        </p:spPr>
      </p:sp>
      <p:sp>
        <p:nvSpPr>
          <p:cNvPr id="7" name="Shape 4"/>
          <p:cNvSpPr/>
          <p:nvPr/>
        </p:nvSpPr>
        <p:spPr>
          <a:xfrm>
            <a:off x="6492240" y="914400"/>
            <a:ext cx="64008" cy="1371600"/>
          </a:xfrm>
          <a:prstGeom prst="rect">
            <a:avLst/>
          </a:prstGeom>
          <a:solidFill>
            <a:srgbClr val="F4A261"/>
          </a:solidFill>
          <a:ln/>
        </p:spPr>
      </p:sp>
      <p:sp>
        <p:nvSpPr>
          <p:cNvPr id="8" name="Text 5"/>
          <p:cNvSpPr/>
          <p:nvPr/>
        </p:nvSpPr>
        <p:spPr>
          <a:xfrm>
            <a:off x="6629400" y="987552"/>
            <a:ext cx="2286000" cy="320040"/>
          </a:xfrm>
          <a:prstGeom prst="rect">
            <a:avLst/>
          </a:prstGeom>
          <a:noFill/>
          <a:ln/>
        </p:spPr>
        <p:txBody>
          <a:bodyPr wrap="square" lIns="0" tIns="0" rIns="0" bIns="0" rtlCol="0" anchor="ctr"/>
          <a:lstStyle/>
          <a:p>
            <a:pPr indent="0" marL="0">
              <a:buNone/>
            </a:pPr>
            <a:r>
              <a:rPr lang="en-US" sz="1100" b="1" dirty="0">
                <a:solidFill>
                  <a:srgbClr val="1A4A7A"/>
                </a:solidFill>
                <a:latin typeface="Calibri" pitchFamily="34" charset="0"/>
                <a:ea typeface="Calibri" pitchFamily="34" charset="-122"/>
                <a:cs typeface="Calibri" pitchFamily="34" charset="-120"/>
              </a:rPr>
              <a:t>BMI Outliers</a:t>
            </a:r>
            <a:endParaRPr lang="en-US" sz="1100" dirty="0"/>
          </a:p>
        </p:txBody>
      </p:sp>
      <p:sp>
        <p:nvSpPr>
          <p:cNvPr id="9" name="Text 6"/>
          <p:cNvSpPr/>
          <p:nvPr/>
        </p:nvSpPr>
        <p:spPr>
          <a:xfrm>
            <a:off x="6629400" y="1298448"/>
            <a:ext cx="2286000" cy="896112"/>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A few individuals exceed BMI 50. Rare but present.</a:t>
            </a:r>
            <a:endParaRPr lang="en-US" sz="1000" dirty="0"/>
          </a:p>
        </p:txBody>
      </p:sp>
      <p:sp>
        <p:nvSpPr>
          <p:cNvPr id="10" name="Shape 7"/>
          <p:cNvSpPr/>
          <p:nvPr/>
        </p:nvSpPr>
        <p:spPr>
          <a:xfrm>
            <a:off x="6492240" y="2377440"/>
            <a:ext cx="2468880" cy="1371600"/>
          </a:xfrm>
          <a:prstGeom prst="rect">
            <a:avLst/>
          </a:prstGeom>
          <a:solidFill>
            <a:srgbClr val="FFFFFF"/>
          </a:solidFill>
          <a:ln/>
          <a:effectLst>
            <a:outerShdw sx="100000" sy="100000" kx="0" ky="0" algn="bl" rotWithShape="0" blurRad="50800" dist="25400" dir="8100000">
              <a:srgbClr val="000000">
                <a:alpha val="20000"/>
              </a:srgbClr>
            </a:outerShdw>
          </a:effectLst>
        </p:spPr>
      </p:sp>
      <p:sp>
        <p:nvSpPr>
          <p:cNvPr id="11" name="Shape 8"/>
          <p:cNvSpPr/>
          <p:nvPr/>
        </p:nvSpPr>
        <p:spPr>
          <a:xfrm>
            <a:off x="6492240" y="2377440"/>
            <a:ext cx="64008" cy="1371600"/>
          </a:xfrm>
          <a:prstGeom prst="rect">
            <a:avLst/>
          </a:prstGeom>
          <a:solidFill>
            <a:srgbClr val="F4A261"/>
          </a:solidFill>
          <a:ln/>
        </p:spPr>
      </p:sp>
      <p:sp>
        <p:nvSpPr>
          <p:cNvPr id="12" name="Text 9"/>
          <p:cNvSpPr/>
          <p:nvPr/>
        </p:nvSpPr>
        <p:spPr>
          <a:xfrm>
            <a:off x="6629400" y="2450592"/>
            <a:ext cx="2286000" cy="320040"/>
          </a:xfrm>
          <a:prstGeom prst="rect">
            <a:avLst/>
          </a:prstGeom>
          <a:noFill/>
          <a:ln/>
        </p:spPr>
        <p:txBody>
          <a:bodyPr wrap="square" lIns="0" tIns="0" rIns="0" bIns="0" rtlCol="0" anchor="ctr"/>
          <a:lstStyle/>
          <a:p>
            <a:pPr indent="0" marL="0">
              <a:buNone/>
            </a:pPr>
            <a:r>
              <a:rPr lang="en-US" sz="1100" b="1" dirty="0">
                <a:solidFill>
                  <a:srgbClr val="1A4A7A"/>
                </a:solidFill>
                <a:latin typeface="Calibri" pitchFamily="34" charset="0"/>
                <a:ea typeface="Calibri" pitchFamily="34" charset="-122"/>
                <a:cs typeface="Calibri" pitchFamily="34" charset="-120"/>
              </a:rPr>
              <a:t>Charge Outliers</a:t>
            </a:r>
            <a:endParaRPr lang="en-US" sz="1100" dirty="0"/>
          </a:p>
        </p:txBody>
      </p:sp>
      <p:sp>
        <p:nvSpPr>
          <p:cNvPr id="13" name="Text 10"/>
          <p:cNvSpPr/>
          <p:nvPr/>
        </p:nvSpPr>
        <p:spPr>
          <a:xfrm>
            <a:off x="6629400" y="2761488"/>
            <a:ext cx="2286000" cy="896112"/>
          </a:xfrm>
          <a:prstGeom prst="rect">
            <a:avLst/>
          </a:prstGeom>
          <a:noFill/>
          <a:ln/>
        </p:spPr>
        <p:txBody>
          <a:bodyPr wrap="square" lIns="0" tIns="0" rIns="0" bIns="0" rtlCol="0" anchor="t"/>
          <a:lstStyle/>
          <a:p>
            <a:pPr indent="0" marL="0">
              <a:buNone/>
            </a:pPr>
            <a:r>
              <a:rPr lang="en-US" sz="1000" dirty="0">
                <a:solidFill>
                  <a:srgbClr val="2D3748"/>
                </a:solidFill>
                <a:latin typeface="Calibri" pitchFamily="34" charset="0"/>
                <a:ea typeface="Calibri" pitchFamily="34" charset="-122"/>
                <a:cs typeface="Calibri" pitchFamily="34" charset="-120"/>
              </a:rPr>
              <a:t>Upper fence ≈ $34K. Outliers are predominantly smokers.</a:t>
            </a:r>
            <a:endParaRPr lang="en-US" sz="1000" dirty="0"/>
          </a:p>
        </p:txBody>
      </p:sp>
      <p:sp>
        <p:nvSpPr>
          <p:cNvPr id="14" name="Text 11"/>
          <p:cNvSpPr/>
          <p:nvPr/>
        </p:nvSpPr>
        <p:spPr>
          <a:xfrm>
            <a:off x="365760" y="4023360"/>
            <a:ext cx="8412480" cy="822960"/>
          </a:xfrm>
          <a:prstGeom prst="rect">
            <a:avLst/>
          </a:prstGeom>
          <a:noFill/>
          <a:ln/>
        </p:spPr>
        <p:txBody>
          <a:bodyPr wrap="square" rtlCol="0" anchor="ctr"/>
          <a:lstStyle/>
          <a:p>
            <a:pPr indent="0" marL="0">
              <a:buNone/>
            </a:pPr>
            <a:r>
              <a:rPr lang="en-US" sz="1150" b="1" dirty="0">
                <a:solidFill>
                  <a:srgbClr val="1A4A7A"/>
                </a:solidFill>
                <a:latin typeface="Calibri" pitchFamily="34" charset="0"/>
                <a:ea typeface="Calibri" pitchFamily="34" charset="-122"/>
                <a:cs typeface="Calibri" pitchFamily="34" charset="-120"/>
              </a:rPr>
              <a:t>Key Insight: High-charge outliers are almost exclusively smokers, validating smoking as the primary cost driver.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Simulation: Population vs OLS Regression Lines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5486400" cy="3840480"/>
          </a:xfrm>
          <a:prstGeom prst="rect">
            <a:avLst/>
          </a:prstGeom>
        </p:spPr>
      </p:pic>
      <p:sp>
        <p:nvSpPr>
          <p:cNvPr id="6" name="Shape 3"/>
          <p:cNvSpPr/>
          <p:nvPr/>
        </p:nvSpPr>
        <p:spPr>
          <a:xfrm>
            <a:off x="5943600" y="914400"/>
            <a:ext cx="3017520" cy="137160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7" name="Shape 4"/>
          <p:cNvSpPr/>
          <p:nvPr/>
        </p:nvSpPr>
        <p:spPr>
          <a:xfrm>
            <a:off x="5943600" y="914400"/>
            <a:ext cx="64008" cy="1371600"/>
          </a:xfrm>
          <a:prstGeom prst="rect">
            <a:avLst/>
          </a:prstGeom>
          <a:solidFill>
            <a:srgbClr val="F4A261"/>
          </a:solidFill>
          <a:ln/>
        </p:spPr>
      </p:sp>
      <p:sp>
        <p:nvSpPr>
          <p:cNvPr id="8" name="Text 5"/>
          <p:cNvSpPr/>
          <p:nvPr/>
        </p:nvSpPr>
        <p:spPr>
          <a:xfrm>
            <a:off x="6080760" y="9875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Setup</a:t>
            </a:r>
            <a:endParaRPr lang="en-US" sz="1100" dirty="0"/>
          </a:p>
        </p:txBody>
      </p:sp>
      <p:sp>
        <p:nvSpPr>
          <p:cNvPr id="9" name="Text 6"/>
          <p:cNvSpPr/>
          <p:nvPr/>
        </p:nvSpPr>
        <p:spPr>
          <a:xfrm>
            <a:off x="6080760" y="1298448"/>
            <a:ext cx="2834640" cy="89611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n=50, seed=123</a:t>
            </a:r>
            <a:endParaRPr lang="en-US" sz="1000" dirty="0"/>
          </a:p>
          <a:p>
            <a:pPr indent="0" marL="0">
              <a:buNone/>
            </a:pPr>
            <a:r>
              <a:rPr lang="en-US" sz="1000" dirty="0">
                <a:solidFill>
                  <a:srgbClr val="EDF2F7"/>
                </a:solidFill>
                <a:latin typeface="Calibri" pitchFamily="34" charset="0"/>
                <a:ea typeface="Calibri" pitchFamily="34" charset="-122"/>
                <a:cs typeface="Calibri" pitchFamily="34" charset="-120"/>
              </a:rPr>
              <a:t>Y = 2+3x+ε</a:t>
            </a:r>
            <a:endParaRPr lang="en-US" sz="1000" dirty="0"/>
          </a:p>
          <a:p>
            <a:pPr indent="0" marL="0">
              <a:buNone/>
            </a:pPr>
            <a:r>
              <a:rPr lang="en-US" sz="1000" dirty="0">
                <a:solidFill>
                  <a:srgbClr val="EDF2F7"/>
                </a:solidFill>
                <a:latin typeface="Calibri" pitchFamily="34" charset="0"/>
                <a:ea typeface="Calibri" pitchFamily="34" charset="-122"/>
                <a:cs typeface="Calibri" pitchFamily="34" charset="-120"/>
              </a:rPr>
              <a:t>ε ~ N(0,16)</a:t>
            </a:r>
            <a:endParaRPr lang="en-US" sz="1000" dirty="0"/>
          </a:p>
          <a:p>
            <a:pPr indent="0" marL="0">
              <a:buNone/>
            </a:pPr>
            <a:r>
              <a:rPr lang="en-US" sz="1000" dirty="0">
                <a:solidFill>
                  <a:srgbClr val="EDF2F7"/>
                </a:solidFill>
                <a:latin typeface="Calibri" pitchFamily="34" charset="0"/>
                <a:ea typeface="Calibri" pitchFamily="34" charset="-122"/>
                <a:cs typeface="Calibri" pitchFamily="34" charset="-120"/>
              </a:rPr>
              <a:t>x ~ Uniform(5,10)</a:t>
            </a:r>
            <a:endParaRPr lang="en-US" sz="1000" dirty="0"/>
          </a:p>
        </p:txBody>
      </p:sp>
      <p:sp>
        <p:nvSpPr>
          <p:cNvPr id="10" name="Shape 7"/>
          <p:cNvSpPr/>
          <p:nvPr/>
        </p:nvSpPr>
        <p:spPr>
          <a:xfrm>
            <a:off x="5943600" y="2331720"/>
            <a:ext cx="3017520" cy="141732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1" name="Shape 8"/>
          <p:cNvSpPr/>
          <p:nvPr/>
        </p:nvSpPr>
        <p:spPr>
          <a:xfrm>
            <a:off x="5943600" y="2331720"/>
            <a:ext cx="64008" cy="1417320"/>
          </a:xfrm>
          <a:prstGeom prst="rect">
            <a:avLst/>
          </a:prstGeom>
          <a:solidFill>
            <a:srgbClr val="F4A261"/>
          </a:solidFill>
          <a:ln/>
        </p:spPr>
      </p:sp>
      <p:sp>
        <p:nvSpPr>
          <p:cNvPr id="12" name="Text 9"/>
          <p:cNvSpPr/>
          <p:nvPr/>
        </p:nvSpPr>
        <p:spPr>
          <a:xfrm>
            <a:off x="6080760" y="240487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Finding</a:t>
            </a:r>
            <a:endParaRPr lang="en-US" sz="1100" dirty="0"/>
          </a:p>
        </p:txBody>
      </p:sp>
      <p:sp>
        <p:nvSpPr>
          <p:cNvPr id="13" name="Text 10"/>
          <p:cNvSpPr/>
          <p:nvPr/>
        </p:nvSpPr>
        <p:spPr>
          <a:xfrm>
            <a:off x="6080760" y="2715768"/>
            <a:ext cx="2834640" cy="94183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Each OLS line is different but all cluster around the true black population line.</a:t>
            </a:r>
            <a:endParaRPr lang="en-US" sz="1000" dirty="0"/>
          </a:p>
        </p:txBody>
      </p:sp>
      <p:sp>
        <p:nvSpPr>
          <p:cNvPr id="14" name="Shape 11"/>
          <p:cNvSpPr/>
          <p:nvPr/>
        </p:nvSpPr>
        <p:spPr>
          <a:xfrm>
            <a:off x="5943600" y="3794760"/>
            <a:ext cx="3017520" cy="109728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5" name="Shape 12"/>
          <p:cNvSpPr/>
          <p:nvPr/>
        </p:nvSpPr>
        <p:spPr>
          <a:xfrm>
            <a:off x="5943600" y="3794760"/>
            <a:ext cx="64008" cy="1097280"/>
          </a:xfrm>
          <a:prstGeom prst="rect">
            <a:avLst/>
          </a:prstGeom>
          <a:solidFill>
            <a:srgbClr val="F4A261"/>
          </a:solidFill>
          <a:ln/>
        </p:spPr>
      </p:sp>
      <p:sp>
        <p:nvSpPr>
          <p:cNvPr id="16" name="Text 13"/>
          <p:cNvSpPr/>
          <p:nvPr/>
        </p:nvSpPr>
        <p:spPr>
          <a:xfrm>
            <a:off x="6080760" y="386791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Conclusion</a:t>
            </a:r>
            <a:endParaRPr lang="en-US" sz="1100" dirty="0"/>
          </a:p>
        </p:txBody>
      </p:sp>
      <p:sp>
        <p:nvSpPr>
          <p:cNvPr id="17" name="Text 14"/>
          <p:cNvSpPr/>
          <p:nvPr/>
        </p:nvSpPr>
        <p:spPr>
          <a:xfrm>
            <a:off x="6080760" y="4178808"/>
            <a:ext cx="2834640" cy="62179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OLS is unbiased: random variation exists, but estimates are centred on the truth.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OLS Minimises RSS — Contour Surface</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5486400" cy="3840480"/>
          </a:xfrm>
          <a:prstGeom prst="rect">
            <a:avLst/>
          </a:prstGeom>
        </p:spPr>
      </p:pic>
      <p:sp>
        <p:nvSpPr>
          <p:cNvPr id="6" name="Shape 3"/>
          <p:cNvSpPr/>
          <p:nvPr/>
        </p:nvSpPr>
        <p:spPr>
          <a:xfrm>
            <a:off x="5943600" y="914400"/>
            <a:ext cx="3017520" cy="118872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7" name="Shape 4"/>
          <p:cNvSpPr/>
          <p:nvPr/>
        </p:nvSpPr>
        <p:spPr>
          <a:xfrm>
            <a:off x="5943600" y="914400"/>
            <a:ext cx="64008" cy="1188720"/>
          </a:xfrm>
          <a:prstGeom prst="rect">
            <a:avLst/>
          </a:prstGeom>
          <a:solidFill>
            <a:srgbClr val="F4A261"/>
          </a:solidFill>
          <a:ln/>
        </p:spPr>
      </p:sp>
      <p:sp>
        <p:nvSpPr>
          <p:cNvPr id="8" name="Text 5"/>
          <p:cNvSpPr/>
          <p:nvPr/>
        </p:nvSpPr>
        <p:spPr>
          <a:xfrm>
            <a:off x="6080760" y="9875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Method</a:t>
            </a:r>
            <a:endParaRPr lang="en-US" sz="1100" dirty="0"/>
          </a:p>
        </p:txBody>
      </p:sp>
      <p:sp>
        <p:nvSpPr>
          <p:cNvPr id="9" name="Text 6"/>
          <p:cNvSpPr/>
          <p:nvPr/>
        </p:nvSpPr>
        <p:spPr>
          <a:xfrm>
            <a:off x="6080760" y="1298448"/>
            <a:ext cx="2834640" cy="71323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Grid of 80×80 (β₀,β₁) values. RSS computed at each point.</a:t>
            </a:r>
            <a:endParaRPr lang="en-US" sz="1000" dirty="0"/>
          </a:p>
        </p:txBody>
      </p:sp>
      <p:sp>
        <p:nvSpPr>
          <p:cNvPr id="10" name="Shape 7"/>
          <p:cNvSpPr/>
          <p:nvPr/>
        </p:nvSpPr>
        <p:spPr>
          <a:xfrm>
            <a:off x="5943600" y="2148840"/>
            <a:ext cx="3017520" cy="128016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1" name="Shape 8"/>
          <p:cNvSpPr/>
          <p:nvPr/>
        </p:nvSpPr>
        <p:spPr>
          <a:xfrm>
            <a:off x="5943600" y="2148840"/>
            <a:ext cx="64008" cy="1280160"/>
          </a:xfrm>
          <a:prstGeom prst="rect">
            <a:avLst/>
          </a:prstGeom>
          <a:solidFill>
            <a:srgbClr val="F4A261"/>
          </a:solidFill>
          <a:ln/>
        </p:spPr>
      </p:sp>
      <p:sp>
        <p:nvSpPr>
          <p:cNvPr id="12" name="Text 9"/>
          <p:cNvSpPr/>
          <p:nvPr/>
        </p:nvSpPr>
        <p:spPr>
          <a:xfrm>
            <a:off x="6080760" y="222199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Result</a:t>
            </a:r>
            <a:endParaRPr lang="en-US" sz="1100" dirty="0"/>
          </a:p>
        </p:txBody>
      </p:sp>
      <p:sp>
        <p:nvSpPr>
          <p:cNvPr id="13" name="Text 10"/>
          <p:cNvSpPr/>
          <p:nvPr/>
        </p:nvSpPr>
        <p:spPr>
          <a:xfrm>
            <a:off x="6080760" y="2532888"/>
            <a:ext cx="2834640" cy="80467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Red dot (OLS) sits exactly at the bowl's minimum — confirming RSS is minimised.</a:t>
            </a:r>
            <a:endParaRPr lang="en-US" sz="1000" dirty="0"/>
          </a:p>
        </p:txBody>
      </p:sp>
      <p:sp>
        <p:nvSpPr>
          <p:cNvPr id="14" name="Shape 11"/>
          <p:cNvSpPr/>
          <p:nvPr/>
        </p:nvSpPr>
        <p:spPr>
          <a:xfrm>
            <a:off x="5943600" y="3474720"/>
            <a:ext cx="3017520" cy="128016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5" name="Shape 12"/>
          <p:cNvSpPr/>
          <p:nvPr/>
        </p:nvSpPr>
        <p:spPr>
          <a:xfrm>
            <a:off x="5943600" y="3474720"/>
            <a:ext cx="64008" cy="1280160"/>
          </a:xfrm>
          <a:prstGeom prst="rect">
            <a:avLst/>
          </a:prstGeom>
          <a:solidFill>
            <a:srgbClr val="F4A261"/>
          </a:solidFill>
          <a:ln/>
        </p:spPr>
      </p:sp>
      <p:sp>
        <p:nvSpPr>
          <p:cNvPr id="16" name="Text 13"/>
          <p:cNvSpPr/>
          <p:nvPr/>
        </p:nvSpPr>
        <p:spPr>
          <a:xfrm>
            <a:off x="6080760" y="354787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Implication</a:t>
            </a:r>
            <a:endParaRPr lang="en-US" sz="1100" dirty="0"/>
          </a:p>
        </p:txBody>
      </p:sp>
      <p:sp>
        <p:nvSpPr>
          <p:cNvPr id="17" name="Text 14"/>
          <p:cNvSpPr/>
          <p:nvPr/>
        </p:nvSpPr>
        <p:spPr>
          <a:xfrm>
            <a:off x="6080760" y="3858768"/>
            <a:ext cx="2834640" cy="80467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No other (β₀,β₁) pair yields a smaller sum of squared residuals.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OLS Unbiasedness — 1000 Monte Carlo Simulations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8595360" cy="3200400"/>
          </a:xfrm>
          <a:prstGeom prst="rect">
            <a:avLst/>
          </a:prstGeom>
        </p:spPr>
      </p:pic>
      <p:sp>
        <p:nvSpPr>
          <p:cNvPr id="6" name="Text 3"/>
          <p:cNvSpPr/>
          <p:nvPr/>
        </p:nvSpPr>
        <p:spPr>
          <a:xfrm>
            <a:off x="365760" y="4206240"/>
            <a:ext cx="8412480" cy="731520"/>
          </a:xfrm>
          <a:prstGeom prst="rect">
            <a:avLst/>
          </a:prstGeom>
          <a:noFill/>
          <a:ln/>
        </p:spPr>
        <p:txBody>
          <a:bodyPr wrap="square"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Avg β̂₀ ≈ 2.00  (True: 2)  |  </a:t>
            </a:r>
            <a:pPr indent="0" marL="0">
              <a:buNone/>
            </a:pPr>
            <a:r>
              <a:rPr lang="en-US" sz="1200" b="1" dirty="0">
                <a:solidFill>
                  <a:srgbClr val="F4A261"/>
                </a:solidFill>
                <a:latin typeface="Calibri" pitchFamily="34" charset="0"/>
                <a:ea typeface="Calibri" pitchFamily="34" charset="-122"/>
                <a:cs typeface="Calibri" pitchFamily="34" charset="-120"/>
              </a:rPr>
              <a:t>Avg β̂₁ ≈ 3.00  (True: 3)  |  </a:t>
            </a:r>
            <a:pPr indent="0" marL="0">
              <a:buNone/>
            </a:pPr>
            <a:r>
              <a:rPr lang="en-US" sz="1200" dirty="0">
                <a:solidFill>
                  <a:srgbClr val="EDF2F7"/>
                </a:solidFill>
                <a:latin typeface="Calibri" pitchFamily="34" charset="0"/>
                <a:ea typeface="Calibri" pitchFamily="34" charset="-122"/>
                <a:cs typeface="Calibri" pitchFamily="34" charset="-120"/>
              </a:rPr>
              <a:t>Distributions are approximately normal (CLT)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0F8"/>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0F2744"/>
                </a:solidFill>
                <a:latin typeface="Calibri" pitchFamily="34" charset="0"/>
                <a:ea typeface="Calibri" pitchFamily="34" charset="-122"/>
                <a:cs typeface="Calibri" pitchFamily="34" charset="-120"/>
              </a:rPr>
              <a:t>Simple Linear Regressions — R² Comparison</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5303520" cy="320040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0" y="914400"/>
          <a:ext cx="3200400" cy="2743200"/>
        </p:xfrm>
        <a:graphic>
          <a:graphicData uri="http://schemas.openxmlformats.org/drawingml/2006/table">
            <a:tbl>
              <a:tblPr/>
              <a:tblGrid>
                <a:gridCol w="1066800"/>
                <a:gridCol w="1066800"/>
                <a:gridCol w="1066800"/>
              </a:tblGrid>
              <a:tr h="402336">
                <a:tc>
                  <a:txBody>
                    <a:bodyPr/>
                    <a:lstStyle/>
                    <a:p>
                      <a:pPr indent="0" marL="0">
                        <a:buNone/>
                      </a:pPr>
                      <a:r>
                        <a:rPr lang="en-US" sz="1150" b="1" dirty="0">
                          <a:solidFill>
                            <a:srgbClr val="0F2744"/>
                          </a:solidFill>
                          <a:latin typeface="Calibri" pitchFamily="34" charset="0"/>
                          <a:ea typeface="Calibri" pitchFamily="34" charset="-122"/>
                          <a:cs typeface="Calibri" pitchFamily="34" charset="-120"/>
                        </a:rPr>
                        <a:t>Predictor</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50" b="1" dirty="0">
                          <a:solidFill>
                            <a:srgbClr val="0F2744"/>
                          </a:solidFill>
                          <a:latin typeface="Calibri" pitchFamily="34" charset="0"/>
                          <a:ea typeface="Calibri" pitchFamily="34" charset="-122"/>
                          <a:cs typeface="Calibri" pitchFamily="34" charset="-120"/>
                        </a:rPr>
                        <a:t>Coeff.</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50" b="1" dirty="0">
                          <a:solidFill>
                            <a:srgbClr val="0F2744"/>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r>
              <a:tr h="402336">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Smoker</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+$23,616</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0.619</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402336">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+$257</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0.089</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402336">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BMI</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+$392</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0.039</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402336">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Children</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+$722</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0.013</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402336">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Sex</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+$1,388</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50" dirty="0">
                          <a:solidFill>
                            <a:srgbClr val="1D3A5F"/>
                          </a:solidFill>
                          <a:latin typeface="Calibri" pitchFamily="34" charset="0"/>
                          <a:ea typeface="Calibri" pitchFamily="34" charset="-122"/>
                          <a:cs typeface="Calibri" pitchFamily="34" charset="-120"/>
                        </a:rPr>
                        <a:t>0.006</a:t>
                      </a:r>
                      <a:endParaRPr lang="en-US" sz="115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bl>
          </a:graphicData>
        </a:graphic>
      </p:graphicFrame>
      <p:sp>
        <p:nvSpPr>
          <p:cNvPr id="7" name="Text 3"/>
          <p:cNvSpPr/>
          <p:nvPr/>
        </p:nvSpPr>
        <p:spPr>
          <a:xfrm>
            <a:off x="365760" y="4206240"/>
            <a:ext cx="8412480" cy="685800"/>
          </a:xfrm>
          <a:prstGeom prst="rect">
            <a:avLst/>
          </a:prstGeom>
          <a:noFill/>
          <a:ln/>
        </p:spPr>
        <p:txBody>
          <a:bodyPr wrap="square" rtlCol="0" anchor="ctr"/>
          <a:lstStyle/>
          <a:p>
            <a:pPr indent="0" marL="0">
              <a:buNone/>
            </a:pPr>
            <a:r>
              <a:rPr lang="en-US" sz="1200" b="1" dirty="0">
                <a:solidFill>
                  <a:srgbClr val="1A4A7A"/>
                </a:solidFill>
                <a:latin typeface="Calibri" pitchFamily="34" charset="0"/>
                <a:ea typeface="Calibri" pitchFamily="34" charset="-122"/>
                <a:cs typeface="Calibri" pitchFamily="34" charset="-120"/>
              </a:rPr>
              <a:t>★ Smoker explains 62% of variance alone — the dominant predictor by far.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Multiple Linear Regression — Full Model</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5486400" cy="3108960"/>
          </a:xfrm>
          <a:prstGeom prst="rect">
            <a:avLst/>
          </a:prstGeom>
        </p:spPr>
      </p:pic>
      <p:sp>
        <p:nvSpPr>
          <p:cNvPr id="6" name="Shape 3"/>
          <p:cNvSpPr/>
          <p:nvPr/>
        </p:nvSpPr>
        <p:spPr>
          <a:xfrm>
            <a:off x="5943600" y="914400"/>
            <a:ext cx="3017520" cy="86868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7" name="Shape 4"/>
          <p:cNvSpPr/>
          <p:nvPr/>
        </p:nvSpPr>
        <p:spPr>
          <a:xfrm>
            <a:off x="5943600" y="914400"/>
            <a:ext cx="64008" cy="868680"/>
          </a:xfrm>
          <a:prstGeom prst="rect">
            <a:avLst/>
          </a:prstGeom>
          <a:solidFill>
            <a:srgbClr val="F4A261"/>
          </a:solidFill>
          <a:ln/>
        </p:spPr>
      </p:sp>
      <p:sp>
        <p:nvSpPr>
          <p:cNvPr id="8" name="Text 5"/>
          <p:cNvSpPr/>
          <p:nvPr/>
        </p:nvSpPr>
        <p:spPr>
          <a:xfrm>
            <a:off x="6080760" y="9875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R²</a:t>
            </a:r>
            <a:endParaRPr lang="en-US" sz="1100" dirty="0"/>
          </a:p>
        </p:txBody>
      </p:sp>
      <p:sp>
        <p:nvSpPr>
          <p:cNvPr id="9" name="Text 6"/>
          <p:cNvSpPr/>
          <p:nvPr/>
        </p:nvSpPr>
        <p:spPr>
          <a:xfrm>
            <a:off x="6080760" y="1298448"/>
            <a:ext cx="2834640" cy="39319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~0.75 — Model explains 75% of variance in charges.</a:t>
            </a:r>
            <a:endParaRPr lang="en-US" sz="1000" dirty="0"/>
          </a:p>
        </p:txBody>
      </p:sp>
      <p:sp>
        <p:nvSpPr>
          <p:cNvPr id="10" name="Shape 7"/>
          <p:cNvSpPr/>
          <p:nvPr/>
        </p:nvSpPr>
        <p:spPr>
          <a:xfrm>
            <a:off x="5943600" y="1828800"/>
            <a:ext cx="3017520" cy="86868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1" name="Shape 8"/>
          <p:cNvSpPr/>
          <p:nvPr/>
        </p:nvSpPr>
        <p:spPr>
          <a:xfrm>
            <a:off x="5943600" y="1828800"/>
            <a:ext cx="64008" cy="868680"/>
          </a:xfrm>
          <a:prstGeom prst="rect">
            <a:avLst/>
          </a:prstGeom>
          <a:solidFill>
            <a:srgbClr val="F4A261"/>
          </a:solidFill>
          <a:ln/>
        </p:spPr>
      </p:sp>
      <p:sp>
        <p:nvSpPr>
          <p:cNvPr id="12" name="Text 9"/>
          <p:cNvSpPr/>
          <p:nvPr/>
        </p:nvSpPr>
        <p:spPr>
          <a:xfrm>
            <a:off x="6080760" y="19019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Adj. R²</a:t>
            </a:r>
            <a:endParaRPr lang="en-US" sz="1100" dirty="0"/>
          </a:p>
        </p:txBody>
      </p:sp>
      <p:sp>
        <p:nvSpPr>
          <p:cNvPr id="13" name="Text 10"/>
          <p:cNvSpPr/>
          <p:nvPr/>
        </p:nvSpPr>
        <p:spPr>
          <a:xfrm>
            <a:off x="6080760" y="2212848"/>
            <a:ext cx="2834640" cy="39319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~0.749 — Adjusted for number of predictors; still strong.</a:t>
            </a:r>
            <a:endParaRPr lang="en-US" sz="1000" dirty="0"/>
          </a:p>
        </p:txBody>
      </p:sp>
      <p:sp>
        <p:nvSpPr>
          <p:cNvPr id="14" name="Shape 11"/>
          <p:cNvSpPr/>
          <p:nvPr/>
        </p:nvSpPr>
        <p:spPr>
          <a:xfrm>
            <a:off x="5943600" y="2743200"/>
            <a:ext cx="3017520" cy="86868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5" name="Shape 12"/>
          <p:cNvSpPr/>
          <p:nvPr/>
        </p:nvSpPr>
        <p:spPr>
          <a:xfrm>
            <a:off x="5943600" y="2743200"/>
            <a:ext cx="64008" cy="868680"/>
          </a:xfrm>
          <a:prstGeom prst="rect">
            <a:avLst/>
          </a:prstGeom>
          <a:solidFill>
            <a:srgbClr val="F4A261"/>
          </a:solidFill>
          <a:ln/>
        </p:spPr>
      </p:sp>
      <p:sp>
        <p:nvSpPr>
          <p:cNvPr id="16" name="Text 13"/>
          <p:cNvSpPr/>
          <p:nvPr/>
        </p:nvSpPr>
        <p:spPr>
          <a:xfrm>
            <a:off x="6080760" y="28163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RMSE</a:t>
            </a:r>
            <a:endParaRPr lang="en-US" sz="1100" dirty="0"/>
          </a:p>
        </p:txBody>
      </p:sp>
      <p:sp>
        <p:nvSpPr>
          <p:cNvPr id="17" name="Text 14"/>
          <p:cNvSpPr/>
          <p:nvPr/>
        </p:nvSpPr>
        <p:spPr>
          <a:xfrm>
            <a:off x="6080760" y="3127248"/>
            <a:ext cx="2834640" cy="39319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~$6,100 — Average prediction error around $6,100.</a:t>
            </a:r>
            <a:endParaRPr lang="en-US" sz="1000" dirty="0"/>
          </a:p>
        </p:txBody>
      </p:sp>
      <p:sp>
        <p:nvSpPr>
          <p:cNvPr id="18" name="Shape 15"/>
          <p:cNvSpPr/>
          <p:nvPr/>
        </p:nvSpPr>
        <p:spPr>
          <a:xfrm>
            <a:off x="5943600" y="3657600"/>
            <a:ext cx="3017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9" name="Shape 16"/>
          <p:cNvSpPr/>
          <p:nvPr/>
        </p:nvSpPr>
        <p:spPr>
          <a:xfrm>
            <a:off x="5943600" y="3657600"/>
            <a:ext cx="64008" cy="1234440"/>
          </a:xfrm>
          <a:prstGeom prst="rect">
            <a:avLst/>
          </a:prstGeom>
          <a:solidFill>
            <a:srgbClr val="F4A261"/>
          </a:solidFill>
          <a:ln/>
        </p:spPr>
      </p:sp>
      <p:sp>
        <p:nvSpPr>
          <p:cNvPr id="20" name="Text 17"/>
          <p:cNvSpPr/>
          <p:nvPr/>
        </p:nvSpPr>
        <p:spPr>
          <a:xfrm>
            <a:off x="6080760" y="3730752"/>
            <a:ext cx="2834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Diagnostics</a:t>
            </a:r>
            <a:endParaRPr lang="en-US" sz="1100" dirty="0"/>
          </a:p>
        </p:txBody>
      </p:sp>
      <p:sp>
        <p:nvSpPr>
          <p:cNvPr id="21" name="Text 18"/>
          <p:cNvSpPr/>
          <p:nvPr/>
        </p:nvSpPr>
        <p:spPr>
          <a:xfrm>
            <a:off x="6080760" y="4041648"/>
            <a:ext cx="2834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Residuals vs Fitted shows slight heteroscedasticity at high values. Q-Q plot shows mild tail departures — log transform recommended.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0F8"/>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0F2744"/>
                </a:solidFill>
                <a:latin typeface="Calibri" pitchFamily="34" charset="0"/>
                <a:ea typeface="Calibri" pitchFamily="34" charset="-122"/>
                <a:cs typeface="Calibri" pitchFamily="34" charset="-120"/>
              </a:rPr>
              <a:t>Effect of Categorical Predictors on Charges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pic>
        <p:nvPicPr>
          <p:cNvPr id="5" name="Image 0" descr="preencoded.png">    </p:cNvPr>
          <p:cNvPicPr>
            <a:picLocks noChangeAspect="1"/>
          </p:cNvPicPr>
          <p:nvPr/>
        </p:nvPicPr>
        <p:blipFill>
          <a:blip r:embed="rId1"/>
          <a:stretch>
            <a:fillRect/>
          </a:stretch>
        </p:blipFill>
        <p:spPr>
          <a:xfrm>
            <a:off x="274320" y="914400"/>
            <a:ext cx="8595360" cy="301752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4023360"/>
          <a:ext cx="8412480" cy="1005840"/>
        </p:xfrm>
        <a:graphic>
          <a:graphicData uri="http://schemas.openxmlformats.org/drawingml/2006/table">
            <a:tbl>
              <a:tblPr/>
              <a:tblGrid>
                <a:gridCol w="2804160"/>
                <a:gridCol w="2804160"/>
                <a:gridCol w="2804160"/>
              </a:tblGrid>
              <a:tr h="310896">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Adj. R²</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c>
                  <a:txBody>
                    <a:bodyPr/>
                    <a:lstStyle/>
                    <a:p>
                      <a:pPr indent="0" marL="0">
                        <a:buNone/>
                      </a:pPr>
                      <a:r>
                        <a:rPr lang="en-US" sz="1100" b="1" dirty="0">
                          <a:solidFill>
                            <a:srgbClr val="0F2744"/>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F4A261"/>
                    </a:solidFill>
                  </a:tcPr>
                </a:tc>
              </a:tr>
              <a:tr h="310896">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Smoker only</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0.619</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$7,500</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310896">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 Sex</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0.620</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$7,491</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r h="310896">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 Sex + Age</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0.665</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c>
                  <a:txBody>
                    <a:bodyPr/>
                    <a:lstStyle/>
                    <a:p>
                      <a:pPr indent="0" marL="0">
                        <a:buNone/>
                      </a:pPr>
                      <a:r>
                        <a:rPr lang="en-US" sz="1100" dirty="0">
                          <a:solidFill>
                            <a:srgbClr val="1D3A5F"/>
                          </a:solidFill>
                          <a:latin typeface="Calibri" pitchFamily="34" charset="0"/>
                          <a:ea typeface="Calibri" pitchFamily="34" charset="-122"/>
                          <a:cs typeface="Calibri" pitchFamily="34" charset="-120"/>
                        </a:rPr>
                        <a:t>$7,042</a:t>
                      </a:r>
                      <a:endParaRPr lang="en-US" sz="1100" dirty="0">
                        <a:latin typeface="Calibri" charset="0"/>
                        <a:ea typeface="Calibri" charset="0"/>
                        <a:cs typeface="Calibri" charset="0"/>
                      </a:endParaRPr>
                    </a:p>
                  </a:txBody>
                  <a:tcPr marL="91440" marR="91440" marT="45720" marB="45720">
                    <a:lnL w="6350" cap="flat" cmpd="sng" algn="ctr">
                      <a:solidFill>
                        <a:srgbClr val="1A4A7A"/>
                      </a:solidFill>
                      <a:prstDash val="solid"/>
                      <a:round/>
                      <a:headEnd type="none" w="med" len="med"/>
                      <a:tailEnd type="none" w="med" len="med"/>
                    </a:lnL>
                    <a:lnR w="6350" cap="flat" cmpd="sng" algn="ctr">
                      <a:solidFill>
                        <a:srgbClr val="1A4A7A"/>
                      </a:solidFill>
                      <a:prstDash val="solid"/>
                      <a:round/>
                      <a:headEnd type="none" w="med" len="med"/>
                      <a:tailEnd type="none" w="med" len="med"/>
                    </a:lnR>
                    <a:lnT w="6350" cap="flat" cmpd="sng" algn="ctr">
                      <a:solidFill>
                        <a:srgbClr val="1A4A7A"/>
                      </a:solidFill>
                      <a:prstDash val="solid"/>
                      <a:round/>
                      <a:headEnd type="none" w="med" len="med"/>
                      <a:tailEnd type="none" w="med" len="med"/>
                    </a:lnT>
                    <a:lnB w="6350" cap="flat" cmpd="sng" algn="ctr">
                      <a:solidFill>
                        <a:srgbClr val="1A4A7A"/>
                      </a:solidFill>
                      <a:prstDash val="solid"/>
                      <a:round/>
                      <a:headEnd type="none" w="med" len="med"/>
                      <a:tailEnd type="none" w="med" len="med"/>
                    </a:lnB>
                    <a:solidFill>
                      <a:srgbClr val="DBEAF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37160"/>
            <a:ext cx="8412480" cy="594360"/>
          </a:xfrm>
          <a:prstGeom prst="rect">
            <a:avLst/>
          </a:prstGeom>
          <a:noFill/>
          <a:ln/>
        </p:spPr>
        <p:txBody>
          <a:bodyPr wrap="square" lIns="0" tIns="0" rIns="0" bIns="0" rtlCol="0" anchor="ctr"/>
          <a:lstStyle/>
          <a:p>
            <a:pPr indent="0" marL="0">
              <a:buNone/>
            </a:pPr>
            <a:r>
              <a:rPr lang="en-US" sz="2200" b="1" dirty="0">
                <a:solidFill>
                  <a:srgbClr val="F4A261"/>
                </a:solidFill>
                <a:latin typeface="Calibri" pitchFamily="34" charset="0"/>
                <a:ea typeface="Calibri" pitchFamily="34" charset="-122"/>
                <a:cs typeface="Calibri" pitchFamily="34" charset="-120"/>
              </a:rPr>
              <a:t>Conclusions &amp; Key Takeaways</a:t>
            </a:r>
            <a:endParaRPr lang="en-US" sz="2200" dirty="0"/>
          </a:p>
        </p:txBody>
      </p:sp>
      <p:sp>
        <p:nvSpPr>
          <p:cNvPr id="3" name="Shape 1"/>
          <p:cNvSpPr/>
          <p:nvPr/>
        </p:nvSpPr>
        <p:spPr>
          <a:xfrm>
            <a:off x="365760" y="749808"/>
            <a:ext cx="8412480" cy="36576"/>
          </a:xfrm>
          <a:prstGeom prst="rect">
            <a:avLst/>
          </a:prstGeom>
          <a:solidFill>
            <a:srgbClr val="F4A261"/>
          </a:solidFill>
          <a:ln/>
        </p:spPr>
      </p:sp>
      <p:sp>
        <p:nvSpPr>
          <p:cNvPr id="4" name="Text 2"/>
          <p:cNvSpPr/>
          <p:nvPr/>
        </p:nvSpPr>
        <p:spPr>
          <a:xfrm>
            <a:off x="0" y="4892040"/>
            <a:ext cx="9144000" cy="256032"/>
          </a:xfrm>
          <a:prstGeom prst="rect">
            <a:avLst/>
          </a:prstGeom>
          <a:noFill/>
          <a:ln/>
        </p:spPr>
        <p:txBody>
          <a:bodyPr wrap="square" rtlCol="0" anchor="ctr"/>
          <a:lstStyle/>
          <a:p>
            <a:pPr algn="ctr" indent="0" marL="0">
              <a:buNone/>
            </a:pPr>
            <a:r>
              <a:rPr lang="en-US" sz="800" dirty="0">
                <a:solidFill>
                  <a:srgbClr val="8096AE"/>
                </a:solidFill>
                <a:latin typeface="Calibri" pitchFamily="34" charset="0"/>
                <a:ea typeface="Calibri" pitchFamily="34" charset="-122"/>
                <a:cs typeface="Calibri" pitchFamily="34" charset="-120"/>
              </a:rPr>
              <a:t>Medical Insurance — Predictive Analytics</a:t>
            </a:r>
            <a:endParaRPr lang="en-US" sz="800" dirty="0"/>
          </a:p>
        </p:txBody>
      </p:sp>
      <p:sp>
        <p:nvSpPr>
          <p:cNvPr id="5" name="Shape 3"/>
          <p:cNvSpPr/>
          <p:nvPr/>
        </p:nvSpPr>
        <p:spPr>
          <a:xfrm>
            <a:off x="365760" y="960120"/>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6" name="Shape 4"/>
          <p:cNvSpPr/>
          <p:nvPr/>
        </p:nvSpPr>
        <p:spPr>
          <a:xfrm>
            <a:off x="365760" y="960120"/>
            <a:ext cx="64008" cy="1234440"/>
          </a:xfrm>
          <a:prstGeom prst="rect">
            <a:avLst/>
          </a:prstGeom>
          <a:solidFill>
            <a:srgbClr val="F4A261"/>
          </a:solidFill>
          <a:ln/>
        </p:spPr>
      </p:sp>
      <p:sp>
        <p:nvSpPr>
          <p:cNvPr id="7" name="Text 5"/>
          <p:cNvSpPr/>
          <p:nvPr/>
        </p:nvSpPr>
        <p:spPr>
          <a:xfrm>
            <a:off x="502920" y="1033272"/>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Data Quality</a:t>
            </a:r>
            <a:endParaRPr lang="en-US" sz="1100" dirty="0"/>
          </a:p>
        </p:txBody>
      </p:sp>
      <p:sp>
        <p:nvSpPr>
          <p:cNvPr id="8" name="Text 6"/>
          <p:cNvSpPr/>
          <p:nvPr/>
        </p:nvSpPr>
        <p:spPr>
          <a:xfrm>
            <a:off x="502920" y="1344168"/>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2,772 records, no missing values. Charges are right-skewed — driven by smokers.</a:t>
            </a:r>
            <a:endParaRPr lang="en-US" sz="1000" dirty="0"/>
          </a:p>
        </p:txBody>
      </p:sp>
      <p:sp>
        <p:nvSpPr>
          <p:cNvPr id="9" name="Shape 7"/>
          <p:cNvSpPr/>
          <p:nvPr/>
        </p:nvSpPr>
        <p:spPr>
          <a:xfrm>
            <a:off x="4709160" y="960120"/>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0" name="Shape 8"/>
          <p:cNvSpPr/>
          <p:nvPr/>
        </p:nvSpPr>
        <p:spPr>
          <a:xfrm>
            <a:off x="4709160" y="960120"/>
            <a:ext cx="64008" cy="1234440"/>
          </a:xfrm>
          <a:prstGeom prst="rect">
            <a:avLst/>
          </a:prstGeom>
          <a:solidFill>
            <a:srgbClr val="F4A261"/>
          </a:solidFill>
          <a:ln/>
        </p:spPr>
      </p:sp>
      <p:sp>
        <p:nvSpPr>
          <p:cNvPr id="11" name="Text 9"/>
          <p:cNvSpPr/>
          <p:nvPr/>
        </p:nvSpPr>
        <p:spPr>
          <a:xfrm>
            <a:off x="4846320" y="1033272"/>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Dominant Predictor</a:t>
            </a:r>
            <a:endParaRPr lang="en-US" sz="1100" dirty="0"/>
          </a:p>
        </p:txBody>
      </p:sp>
      <p:sp>
        <p:nvSpPr>
          <p:cNvPr id="12" name="Text 10"/>
          <p:cNvSpPr/>
          <p:nvPr/>
        </p:nvSpPr>
        <p:spPr>
          <a:xfrm>
            <a:off x="4846320" y="1344168"/>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Smoking status alone explains 62% of variation in charges (R²=0.619), with a coefficient of +$23,616.</a:t>
            </a:r>
            <a:endParaRPr lang="en-US" sz="1000" dirty="0"/>
          </a:p>
        </p:txBody>
      </p:sp>
      <p:sp>
        <p:nvSpPr>
          <p:cNvPr id="13" name="Shape 11"/>
          <p:cNvSpPr/>
          <p:nvPr/>
        </p:nvSpPr>
        <p:spPr>
          <a:xfrm>
            <a:off x="365760" y="2313432"/>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4" name="Shape 12"/>
          <p:cNvSpPr/>
          <p:nvPr/>
        </p:nvSpPr>
        <p:spPr>
          <a:xfrm>
            <a:off x="365760" y="2313432"/>
            <a:ext cx="64008" cy="1234440"/>
          </a:xfrm>
          <a:prstGeom prst="rect">
            <a:avLst/>
          </a:prstGeom>
          <a:solidFill>
            <a:srgbClr val="F4A261"/>
          </a:solidFill>
          <a:ln/>
        </p:spPr>
      </p:sp>
      <p:sp>
        <p:nvSpPr>
          <p:cNvPr id="15" name="Text 13"/>
          <p:cNvSpPr/>
          <p:nvPr/>
        </p:nvSpPr>
        <p:spPr>
          <a:xfrm>
            <a:off x="502920" y="2386584"/>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OLS Properties</a:t>
            </a:r>
            <a:endParaRPr lang="en-US" sz="1100" dirty="0"/>
          </a:p>
        </p:txBody>
      </p:sp>
      <p:sp>
        <p:nvSpPr>
          <p:cNvPr id="16" name="Text 14"/>
          <p:cNvSpPr/>
          <p:nvPr/>
        </p:nvSpPr>
        <p:spPr>
          <a:xfrm>
            <a:off x="502920" y="2697480"/>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Simulation confirmed: OLS lines vary around fixed population line, estimates are unbiased (avg ≈ true β), and OLS sits at RSS minimum.</a:t>
            </a:r>
            <a:endParaRPr lang="en-US" sz="1000" dirty="0"/>
          </a:p>
        </p:txBody>
      </p:sp>
      <p:sp>
        <p:nvSpPr>
          <p:cNvPr id="17" name="Shape 15"/>
          <p:cNvSpPr/>
          <p:nvPr/>
        </p:nvSpPr>
        <p:spPr>
          <a:xfrm>
            <a:off x="4709160" y="2313432"/>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18" name="Shape 16"/>
          <p:cNvSpPr/>
          <p:nvPr/>
        </p:nvSpPr>
        <p:spPr>
          <a:xfrm>
            <a:off x="4709160" y="2313432"/>
            <a:ext cx="64008" cy="1234440"/>
          </a:xfrm>
          <a:prstGeom prst="rect">
            <a:avLst/>
          </a:prstGeom>
          <a:solidFill>
            <a:srgbClr val="F4A261"/>
          </a:solidFill>
          <a:ln/>
        </p:spPr>
      </p:sp>
      <p:sp>
        <p:nvSpPr>
          <p:cNvPr id="19" name="Text 17"/>
          <p:cNvSpPr/>
          <p:nvPr/>
        </p:nvSpPr>
        <p:spPr>
          <a:xfrm>
            <a:off x="4846320" y="2386584"/>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Full Model (MLR)</a:t>
            </a:r>
            <a:endParaRPr lang="en-US" sz="1100" dirty="0"/>
          </a:p>
        </p:txBody>
      </p:sp>
      <p:sp>
        <p:nvSpPr>
          <p:cNvPr id="20" name="Text 18"/>
          <p:cNvSpPr/>
          <p:nvPr/>
        </p:nvSpPr>
        <p:spPr>
          <a:xfrm>
            <a:off x="4846320" y="2697480"/>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R² ≈ 0.75 using all predictors. RMSE ≈ $6,100. Age, BMI, and smoker are the most informative predictors.</a:t>
            </a:r>
            <a:endParaRPr lang="en-US" sz="1000" dirty="0"/>
          </a:p>
        </p:txBody>
      </p:sp>
      <p:sp>
        <p:nvSpPr>
          <p:cNvPr id="21" name="Shape 19"/>
          <p:cNvSpPr/>
          <p:nvPr/>
        </p:nvSpPr>
        <p:spPr>
          <a:xfrm>
            <a:off x="365760" y="3666744"/>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22" name="Shape 20"/>
          <p:cNvSpPr/>
          <p:nvPr/>
        </p:nvSpPr>
        <p:spPr>
          <a:xfrm>
            <a:off x="365760" y="3666744"/>
            <a:ext cx="64008" cy="1234440"/>
          </a:xfrm>
          <a:prstGeom prst="rect">
            <a:avLst/>
          </a:prstGeom>
          <a:solidFill>
            <a:srgbClr val="F4A261"/>
          </a:solidFill>
          <a:ln/>
        </p:spPr>
      </p:sp>
      <p:sp>
        <p:nvSpPr>
          <p:cNvPr id="23" name="Text 21"/>
          <p:cNvSpPr/>
          <p:nvPr/>
        </p:nvSpPr>
        <p:spPr>
          <a:xfrm>
            <a:off x="502920" y="3739896"/>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Model Improvement</a:t>
            </a:r>
            <a:endParaRPr lang="en-US" sz="1100" dirty="0"/>
          </a:p>
        </p:txBody>
      </p:sp>
      <p:sp>
        <p:nvSpPr>
          <p:cNvPr id="24" name="Text 22"/>
          <p:cNvSpPr/>
          <p:nvPr/>
        </p:nvSpPr>
        <p:spPr>
          <a:xfrm>
            <a:off x="502920" y="4050792"/>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Log-transforming charges reduces heteroscedasticity. A nonlinear or interaction model (BMI × Smoker) could push R² higher.</a:t>
            </a:r>
            <a:endParaRPr lang="en-US" sz="1000" dirty="0"/>
          </a:p>
        </p:txBody>
      </p:sp>
      <p:sp>
        <p:nvSpPr>
          <p:cNvPr id="25" name="Shape 23"/>
          <p:cNvSpPr/>
          <p:nvPr/>
        </p:nvSpPr>
        <p:spPr>
          <a:xfrm>
            <a:off x="4709160" y="3666744"/>
            <a:ext cx="4160520" cy="1234440"/>
          </a:xfrm>
          <a:prstGeom prst="rect">
            <a:avLst/>
          </a:prstGeom>
          <a:solidFill>
            <a:srgbClr val="1A4A7A"/>
          </a:solidFill>
          <a:ln/>
          <a:effectLst>
            <a:outerShdw sx="100000" sy="100000" kx="0" ky="0" algn="bl" rotWithShape="0" blurRad="50800" dist="25400" dir="8100000">
              <a:srgbClr val="000000">
                <a:alpha val="20000"/>
              </a:srgbClr>
            </a:outerShdw>
          </a:effectLst>
        </p:spPr>
      </p:sp>
      <p:sp>
        <p:nvSpPr>
          <p:cNvPr id="26" name="Shape 24"/>
          <p:cNvSpPr/>
          <p:nvPr/>
        </p:nvSpPr>
        <p:spPr>
          <a:xfrm>
            <a:off x="4709160" y="3666744"/>
            <a:ext cx="64008" cy="1234440"/>
          </a:xfrm>
          <a:prstGeom prst="rect">
            <a:avLst/>
          </a:prstGeom>
          <a:solidFill>
            <a:srgbClr val="F4A261"/>
          </a:solidFill>
          <a:ln/>
        </p:spPr>
      </p:sp>
      <p:sp>
        <p:nvSpPr>
          <p:cNvPr id="27" name="Text 25"/>
          <p:cNvSpPr/>
          <p:nvPr/>
        </p:nvSpPr>
        <p:spPr>
          <a:xfrm>
            <a:off x="4846320" y="3739896"/>
            <a:ext cx="3977640" cy="320040"/>
          </a:xfrm>
          <a:prstGeom prst="rect">
            <a:avLst/>
          </a:prstGeom>
          <a:noFill/>
          <a:ln/>
        </p:spPr>
        <p:txBody>
          <a:bodyPr wrap="square" lIns="0" tIns="0" rIns="0" bIns="0" rtlCol="0" anchor="ctr"/>
          <a:lstStyle/>
          <a:p>
            <a:pPr indent="0" marL="0">
              <a:buNone/>
            </a:pPr>
            <a:r>
              <a:rPr lang="en-US" sz="1100" b="1" dirty="0">
                <a:solidFill>
                  <a:srgbClr val="F4A261"/>
                </a:solidFill>
                <a:latin typeface="Calibri" pitchFamily="34" charset="0"/>
                <a:ea typeface="Calibri" pitchFamily="34" charset="-122"/>
                <a:cs typeface="Calibri" pitchFamily="34" charset="-120"/>
              </a:rPr>
              <a:t>Methods Excluded</a:t>
            </a:r>
            <a:endParaRPr lang="en-US" sz="1100" dirty="0"/>
          </a:p>
        </p:txBody>
      </p:sp>
      <p:sp>
        <p:nvSpPr>
          <p:cNvPr id="28" name="Text 26"/>
          <p:cNvSpPr/>
          <p:nvPr/>
        </p:nvSpPr>
        <p:spPr>
          <a:xfrm>
            <a:off x="4846320" y="4050792"/>
            <a:ext cx="3977640" cy="758952"/>
          </a:xfrm>
          <a:prstGeom prst="rect">
            <a:avLst/>
          </a:prstGeom>
          <a:noFill/>
          <a:ln/>
        </p:spPr>
        <p:txBody>
          <a:bodyPr wrap="square" lIns="0" tIns="0" rIns="0" bIns="0" rtlCol="0" anchor="t"/>
          <a:lstStyle/>
          <a:p>
            <a:pPr indent="0" marL="0">
              <a:buNone/>
            </a:pPr>
            <a:r>
              <a:rPr lang="en-US" sz="1000" dirty="0">
                <a:solidFill>
                  <a:srgbClr val="EDF2F7"/>
                </a:solidFill>
                <a:latin typeface="Calibri" pitchFamily="34" charset="0"/>
                <a:ea typeface="Calibri" pitchFamily="34" charset="-122"/>
                <a:cs typeface="Calibri" pitchFamily="34" charset="-120"/>
              </a:rPr>
              <a:t>Logistic regression, KNN, and Naive Bayes require a categorical response — not applicable to continuous insurance charges.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Insurance Charges — Predictive Analytics</dc:title>
  <dc:subject>PptxGenJS Presentation</dc:subject>
  <dc:creator>PptxGenJS</dc:creator>
  <cp:lastModifiedBy>PptxGenJS</cp:lastModifiedBy>
  <cp:revision>1</cp:revision>
  <dcterms:created xsi:type="dcterms:W3CDTF">2026-04-09T18:42:52Z</dcterms:created>
  <dcterms:modified xsi:type="dcterms:W3CDTF">2026-04-09T18:42:52Z</dcterms:modified>
</cp:coreProperties>
</file>